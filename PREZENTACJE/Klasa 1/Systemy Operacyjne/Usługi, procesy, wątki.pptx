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Proxima Nova"/>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44" roundtripDataSignature="AMtx7mjAbPN3nuj5hJxNmMxU96MKufje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regular.fntdata"/><Relationship Id="rId20" Type="http://schemas.openxmlformats.org/officeDocument/2006/relationships/slide" Target="slides/slide15.xml"/><Relationship Id="rId42" Type="http://schemas.openxmlformats.org/officeDocument/2006/relationships/font" Target="fonts/ProximaNova-italic.fntdata"/><Relationship Id="rId41" Type="http://schemas.openxmlformats.org/officeDocument/2006/relationships/font" Target="fonts/ProximaNova-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ProximaNova-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cdc71b91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cdc71b91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cdddd873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cdddd873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cdddd873b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cdddd873b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cdddd873b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cdddd873b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cdddd873b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cdddd873b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cdddd873b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cdddd873b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cdddd873b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cdddd873b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cddf1e3e6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cddf1e3e6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cddf1e3e6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cddf1e3e6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cddf1e3e6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cddf1e3e6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cddf1e3e6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cddf1e3e6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cddf1e3e6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cddf1e3e6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cddf1e3e6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cddf1e3e6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cddf1e3e6e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cddf1e3e6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cddf1e3e6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cddf1e3e6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cddf1e3e6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cddf1e3e6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cddf1e3e6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cddf1e3e6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cddf1e3e6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cddf1e3e6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cddf1e3e6e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cddf1e3e6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cddf1e3e6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cddf1e3e6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16"/>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16"/>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2" name="Google Shape;12;p16"/>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17"/>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cxnSp>
        <p:nvCxnSpPr>
          <p:cNvPr id="20" name="Google Shape;20;p18"/>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21" name="Google Shape;21;p18"/>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2" name="Google Shape;2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23" name="Shape 23"/>
        <p:cNvGrpSpPr/>
        <p:nvPr/>
      </p:nvGrpSpPr>
      <p:grpSpPr>
        <a:xfrm>
          <a:off x="0" y="0"/>
          <a:ext cx="0" cy="0"/>
          <a:chOff x="0" y="0"/>
          <a:chExt cx="0" cy="0"/>
        </a:xfrm>
      </p:grpSpPr>
      <p:sp>
        <p:nvSpPr>
          <p:cNvPr id="24" name="Google Shape;24;p19"/>
          <p:cNvSpPr txBox="1"/>
          <p:nvPr>
            <p:ph type="title"/>
          </p:nvPr>
        </p:nvSpPr>
        <p:spPr>
          <a:xfrm>
            <a:off x="490250" y="526350"/>
            <a:ext cx="57975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5" name="Google Shape;2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23"/>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0" name="Google Shape;40;p23"/>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23"/>
          <p:cNvSpPr txBox="1"/>
          <p:nvPr>
            <p:ph type="title"/>
          </p:nvPr>
        </p:nvSpPr>
        <p:spPr>
          <a:xfrm>
            <a:off x="265500" y="1205825"/>
            <a:ext cx="4045200" cy="1509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23"/>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2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4" name="Google Shape;4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24"/>
          <p:cNvSpPr txBox="1"/>
          <p:nvPr>
            <p:ph idx="1" type="body"/>
          </p:nvPr>
        </p:nvSpPr>
        <p:spPr>
          <a:xfrm>
            <a:off x="311700" y="42368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None/>
              <a:defRPr sz="2100"/>
            </a:lvl1pPr>
          </a:lstStyle>
          <a:p/>
        </p:txBody>
      </p:sp>
      <p:sp>
        <p:nvSpPr>
          <p:cNvPr id="47" name="Google Shape;4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25"/>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5"/>
          <p:cNvSpPr txBox="1"/>
          <p:nvPr>
            <p:ph hasCustomPrompt="1" type="title"/>
          </p:nvPr>
        </p:nvSpPr>
        <p:spPr>
          <a:xfrm>
            <a:off x="311700" y="991475"/>
            <a:ext cx="8520600" cy="1917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14000"/>
              <a:buNone/>
              <a:defRPr b="1" sz="14000"/>
            </a:lvl1pPr>
            <a:lvl2pPr lvl="1" algn="ctr">
              <a:lnSpc>
                <a:spcPct val="100000"/>
              </a:lnSpc>
              <a:spcBef>
                <a:spcPts val="0"/>
              </a:spcBef>
              <a:spcAft>
                <a:spcPts val="0"/>
              </a:spcAft>
              <a:buSzPts val="14000"/>
              <a:buNone/>
              <a:defRPr b="1" sz="14000"/>
            </a:lvl2pPr>
            <a:lvl3pPr lvl="2" algn="ctr">
              <a:lnSpc>
                <a:spcPct val="100000"/>
              </a:lnSpc>
              <a:spcBef>
                <a:spcPts val="0"/>
              </a:spcBef>
              <a:spcAft>
                <a:spcPts val="0"/>
              </a:spcAft>
              <a:buSzPts val="14000"/>
              <a:buNone/>
              <a:defRPr b="1" sz="14000"/>
            </a:lvl3pPr>
            <a:lvl4pPr lvl="3" algn="ctr">
              <a:lnSpc>
                <a:spcPct val="100000"/>
              </a:lnSpc>
              <a:spcBef>
                <a:spcPts val="0"/>
              </a:spcBef>
              <a:spcAft>
                <a:spcPts val="0"/>
              </a:spcAft>
              <a:buSzPts val="14000"/>
              <a:buNone/>
              <a:defRPr b="1" sz="14000"/>
            </a:lvl4pPr>
            <a:lvl5pPr lvl="4" algn="ctr">
              <a:lnSpc>
                <a:spcPct val="100000"/>
              </a:lnSpc>
              <a:spcBef>
                <a:spcPts val="0"/>
              </a:spcBef>
              <a:spcAft>
                <a:spcPts val="0"/>
              </a:spcAft>
              <a:buSzPts val="14000"/>
              <a:buNone/>
              <a:defRPr b="1" sz="14000"/>
            </a:lvl5pPr>
            <a:lvl6pPr lvl="5" algn="ctr">
              <a:lnSpc>
                <a:spcPct val="100000"/>
              </a:lnSpc>
              <a:spcBef>
                <a:spcPts val="0"/>
              </a:spcBef>
              <a:spcAft>
                <a:spcPts val="0"/>
              </a:spcAft>
              <a:buSzPts val="14000"/>
              <a:buNone/>
              <a:defRPr b="1" sz="14000"/>
            </a:lvl6pPr>
            <a:lvl7pPr lvl="6" algn="ctr">
              <a:lnSpc>
                <a:spcPct val="100000"/>
              </a:lnSpc>
              <a:spcBef>
                <a:spcPts val="0"/>
              </a:spcBef>
              <a:spcAft>
                <a:spcPts val="0"/>
              </a:spcAft>
              <a:buSzPts val="14000"/>
              <a:buNone/>
              <a:defRPr b="1" sz="14000"/>
            </a:lvl7pPr>
            <a:lvl8pPr lvl="7" algn="ctr">
              <a:lnSpc>
                <a:spcPct val="100000"/>
              </a:lnSpc>
              <a:spcBef>
                <a:spcPts val="0"/>
              </a:spcBef>
              <a:spcAft>
                <a:spcPts val="0"/>
              </a:spcAft>
              <a:buSzPts val="14000"/>
              <a:buNone/>
              <a:defRPr b="1" sz="14000"/>
            </a:lvl8pPr>
            <a:lvl9pPr lvl="8" algn="ctr">
              <a:lnSpc>
                <a:spcPct val="100000"/>
              </a:lnSpc>
              <a:spcBef>
                <a:spcPts val="0"/>
              </a:spcBef>
              <a:spcAft>
                <a:spcPts val="0"/>
              </a:spcAft>
              <a:buSzPts val="14000"/>
              <a:buNone/>
              <a:defRPr b="1" sz="14000"/>
            </a:lvl9pPr>
          </a:lstStyle>
          <a:p>
            <a:r>
              <a:t>xx%</a:t>
            </a:r>
          </a:p>
        </p:txBody>
      </p:sp>
      <p:sp>
        <p:nvSpPr>
          <p:cNvPr id="51" name="Google Shape;51;p25"/>
          <p:cNvSpPr txBox="1"/>
          <p:nvPr>
            <p:ph idx="1" type="body"/>
          </p:nvPr>
        </p:nvSpPr>
        <p:spPr>
          <a:xfrm>
            <a:off x="311700" y="3071300"/>
            <a:ext cx="8520600" cy="901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2pPr>
            <a:lvl3pPr lvl="2"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3pPr>
            <a:lvl4pPr lvl="3"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4pPr>
            <a:lvl5pPr lvl="4"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5pPr>
            <a:lvl6pPr lvl="5"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6pPr>
            <a:lvl7pPr lvl="6"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7pPr>
            <a:lvl8pPr lvl="7"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8pPr>
            <a:lvl9pPr lvl="8"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Proxima Nova"/>
              <a:buChar char="●"/>
              <a:defRPr b="0" i="0" sz="1800" u="none" cap="none" strike="noStrike">
                <a:solidFill>
                  <a:schemeClr val="accent3"/>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pl.wikipedia.org/wiki/Program_komputerowy" TargetMode="External"/><Relationship Id="rId4" Type="http://schemas.openxmlformats.org/officeDocument/2006/relationships/hyperlink" Target="https://pl.wikipedia.org/wiki/System_operacyjny"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pl.wikipedia.org/wiki/Windows_XP"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800"/>
              <a:buNone/>
            </a:pPr>
            <a:r>
              <a:rPr lang="pl"/>
              <a:t>Usługi, procesy, wątki</a:t>
            </a:r>
            <a:endParaRPr/>
          </a:p>
        </p:txBody>
      </p:sp>
      <p:sp>
        <p:nvSpPr>
          <p:cNvPr id="60" name="Google Shape;60;p1"/>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pl"/>
              <a:t>prezentacja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ctrTitle"/>
          </p:nvPr>
        </p:nvSpPr>
        <p:spPr>
          <a:xfrm>
            <a:off x="510450" y="1252275"/>
            <a:ext cx="8123100" cy="11466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800"/>
              <a:buNone/>
            </a:pPr>
            <a:r>
              <a:rPr lang="pl"/>
              <a:t>1 część - usługi</a:t>
            </a:r>
            <a:endParaRPr/>
          </a:p>
        </p:txBody>
      </p:sp>
      <p:sp>
        <p:nvSpPr>
          <p:cNvPr id="66" name="Google Shape;66;p2"/>
          <p:cNvSpPr txBox="1"/>
          <p:nvPr>
            <p:ph idx="1" type="subTitle"/>
          </p:nvPr>
        </p:nvSpPr>
        <p:spPr>
          <a:xfrm>
            <a:off x="510450" y="3182322"/>
            <a:ext cx="8123100" cy="15663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00000"/>
              </a:lnSpc>
              <a:spcBef>
                <a:spcPts val="0"/>
              </a:spcBef>
              <a:spcAft>
                <a:spcPts val="0"/>
              </a:spcAft>
              <a:buSzPct val="200000"/>
              <a:buNone/>
            </a:pPr>
            <a:r>
              <a:rPr lang="pl" sz="4800">
                <a:solidFill>
                  <a:schemeClr val="lt2"/>
                </a:solidFill>
                <a:latin typeface="Arial"/>
                <a:ea typeface="Arial"/>
                <a:cs typeface="Arial"/>
                <a:sym typeface="Arial"/>
              </a:rPr>
              <a:t>1. Jak włączyć usługi w systemie Windows?</a:t>
            </a:r>
            <a:endParaRPr sz="4800">
              <a:solidFill>
                <a:schemeClr val="lt2"/>
              </a:solidFill>
              <a:latin typeface="Arial"/>
              <a:ea typeface="Arial"/>
              <a:cs typeface="Arial"/>
              <a:sym typeface="Arial"/>
            </a:endParaRPr>
          </a:p>
          <a:p>
            <a:pPr indent="0" lvl="0" marL="0" rtl="0" algn="l">
              <a:lnSpc>
                <a:spcPct val="100000"/>
              </a:lnSpc>
              <a:spcBef>
                <a:spcPts val="0"/>
              </a:spcBef>
              <a:spcAft>
                <a:spcPts val="0"/>
              </a:spcAft>
              <a:buSzPct val="200000"/>
              <a:buNone/>
            </a:pPr>
            <a:r>
              <a:t/>
            </a:r>
            <a:endParaRPr sz="4800">
              <a:solidFill>
                <a:schemeClr val="lt2"/>
              </a:solidFill>
              <a:latin typeface="Arial"/>
              <a:ea typeface="Arial"/>
              <a:cs typeface="Arial"/>
              <a:sym typeface="Arial"/>
            </a:endParaRPr>
          </a:p>
          <a:p>
            <a:pPr indent="0" lvl="0" marL="0" rtl="0" algn="l">
              <a:lnSpc>
                <a:spcPct val="100000"/>
              </a:lnSpc>
              <a:spcBef>
                <a:spcPts val="0"/>
              </a:spcBef>
              <a:spcAft>
                <a:spcPts val="0"/>
              </a:spcAft>
              <a:buSzPct val="200000"/>
              <a:buNone/>
            </a:pPr>
            <a:r>
              <a:rPr lang="pl" sz="4800">
                <a:solidFill>
                  <a:schemeClr val="lt2"/>
                </a:solidFill>
                <a:latin typeface="Arial"/>
                <a:ea typeface="Arial"/>
                <a:cs typeface="Arial"/>
                <a:sym typeface="Arial"/>
              </a:rPr>
              <a:t>2. Wprowadzenie, do czego służą usługi?</a:t>
            </a:r>
            <a:endParaRPr sz="4800">
              <a:solidFill>
                <a:schemeClr val="lt2"/>
              </a:solidFill>
              <a:latin typeface="Arial"/>
              <a:ea typeface="Arial"/>
              <a:cs typeface="Arial"/>
              <a:sym typeface="Arial"/>
            </a:endParaRPr>
          </a:p>
          <a:p>
            <a:pPr indent="0" lvl="0" marL="0" rtl="0" algn="l">
              <a:lnSpc>
                <a:spcPct val="100000"/>
              </a:lnSpc>
              <a:spcBef>
                <a:spcPts val="0"/>
              </a:spcBef>
              <a:spcAft>
                <a:spcPts val="0"/>
              </a:spcAft>
              <a:buSzPct val="200000"/>
              <a:buNone/>
            </a:pPr>
            <a:r>
              <a:t/>
            </a:r>
            <a:endParaRPr sz="4800">
              <a:solidFill>
                <a:schemeClr val="lt2"/>
              </a:solidFill>
              <a:latin typeface="Arial"/>
              <a:ea typeface="Arial"/>
              <a:cs typeface="Arial"/>
              <a:sym typeface="Arial"/>
            </a:endParaRPr>
          </a:p>
          <a:p>
            <a:pPr indent="0" lvl="0" marL="0" rtl="0" algn="l">
              <a:lnSpc>
                <a:spcPct val="100000"/>
              </a:lnSpc>
              <a:spcBef>
                <a:spcPts val="0"/>
              </a:spcBef>
              <a:spcAft>
                <a:spcPts val="0"/>
              </a:spcAft>
              <a:buSzPct val="200000"/>
              <a:buNone/>
            </a:pPr>
            <a:r>
              <a:rPr lang="pl" sz="4800">
                <a:solidFill>
                  <a:schemeClr val="lt2"/>
                </a:solidFill>
                <a:latin typeface="Arial"/>
                <a:ea typeface="Arial"/>
                <a:cs typeface="Arial"/>
                <a:sym typeface="Arial"/>
              </a:rPr>
              <a:t>3. Jak przebiega proces uruchomienia usługi?</a:t>
            </a:r>
            <a:endParaRPr sz="4800">
              <a:solidFill>
                <a:schemeClr val="lt2"/>
              </a:solidFill>
              <a:latin typeface="Arial"/>
              <a:ea typeface="Arial"/>
              <a:cs typeface="Arial"/>
              <a:sym typeface="Arial"/>
            </a:endParaRPr>
          </a:p>
          <a:p>
            <a:pPr indent="0" lvl="0" marL="0" rtl="0" algn="l">
              <a:lnSpc>
                <a:spcPct val="100000"/>
              </a:lnSpc>
              <a:spcBef>
                <a:spcPts val="0"/>
              </a:spcBef>
              <a:spcAft>
                <a:spcPts val="0"/>
              </a:spcAft>
              <a:buSzPct val="200000"/>
              <a:buNone/>
            </a:pPr>
            <a:r>
              <a:t/>
            </a:r>
            <a:endParaRPr sz="4800">
              <a:solidFill>
                <a:schemeClr val="lt2"/>
              </a:solidFill>
              <a:latin typeface="Arial"/>
              <a:ea typeface="Arial"/>
              <a:cs typeface="Arial"/>
              <a:sym typeface="Arial"/>
            </a:endParaRPr>
          </a:p>
          <a:p>
            <a:pPr indent="0" lvl="0" marL="0" rtl="0" algn="l">
              <a:lnSpc>
                <a:spcPct val="100000"/>
              </a:lnSpc>
              <a:spcBef>
                <a:spcPts val="0"/>
              </a:spcBef>
              <a:spcAft>
                <a:spcPts val="0"/>
              </a:spcAft>
              <a:buSzPct val="200000"/>
              <a:buNone/>
            </a:pPr>
            <a:r>
              <a:rPr lang="pl" sz="4800">
                <a:solidFill>
                  <a:schemeClr val="lt2"/>
                </a:solidFill>
                <a:latin typeface="Arial"/>
                <a:ea typeface="Arial"/>
                <a:cs typeface="Arial"/>
                <a:sym typeface="Arial"/>
              </a:rPr>
              <a:t>4. Co znajdziemy w aplikacji usługi?</a:t>
            </a:r>
            <a:endParaRPr sz="4800">
              <a:solidFill>
                <a:schemeClr val="lt2"/>
              </a:solidFill>
              <a:latin typeface="Arial"/>
              <a:ea typeface="Arial"/>
              <a:cs typeface="Arial"/>
              <a:sym typeface="Arial"/>
            </a:endParaRPr>
          </a:p>
          <a:p>
            <a:pPr indent="0" lvl="0" marL="0" rtl="0" algn="l">
              <a:lnSpc>
                <a:spcPct val="100000"/>
              </a:lnSpc>
              <a:spcBef>
                <a:spcPts val="0"/>
              </a:spcBef>
              <a:spcAft>
                <a:spcPts val="0"/>
              </a:spcAft>
              <a:buSzPct val="200000"/>
              <a:buNone/>
            </a:pPr>
            <a:r>
              <a:t/>
            </a:r>
            <a:endParaRPr sz="4800">
              <a:solidFill>
                <a:schemeClr val="lt2"/>
              </a:solidFill>
              <a:latin typeface="Arial"/>
              <a:ea typeface="Arial"/>
              <a:cs typeface="Arial"/>
              <a:sym typeface="Arial"/>
            </a:endParaRPr>
          </a:p>
          <a:p>
            <a:pPr indent="0" lvl="0" marL="0" rtl="0" algn="l">
              <a:lnSpc>
                <a:spcPct val="100000"/>
              </a:lnSpc>
              <a:spcBef>
                <a:spcPts val="0"/>
              </a:spcBef>
              <a:spcAft>
                <a:spcPts val="0"/>
              </a:spcAft>
              <a:buSzPct val="200000"/>
              <a:buNone/>
            </a:pPr>
            <a:r>
              <a:rPr lang="pl" sz="4800">
                <a:solidFill>
                  <a:schemeClr val="lt2"/>
                </a:solidFill>
                <a:latin typeface="Arial"/>
                <a:ea typeface="Arial"/>
                <a:cs typeface="Arial"/>
                <a:sym typeface="Arial"/>
              </a:rPr>
              <a:t>5. Co robić gdy jakaś usługa nie odpowiada lub po prostu mamy problem z aplikacją?</a:t>
            </a:r>
            <a:endParaRPr sz="4800">
              <a:solidFill>
                <a:schemeClr val="lt2"/>
              </a:solidFill>
              <a:latin typeface="Arial"/>
              <a:ea typeface="Arial"/>
              <a:cs typeface="Arial"/>
              <a:sym typeface="Arial"/>
            </a:endParaRPr>
          </a:p>
          <a:p>
            <a:pPr indent="0" lvl="0" marL="0" rtl="0" algn="l">
              <a:lnSpc>
                <a:spcPct val="100000"/>
              </a:lnSpc>
              <a:spcBef>
                <a:spcPts val="0"/>
              </a:spcBef>
              <a:spcAft>
                <a:spcPts val="0"/>
              </a:spcAft>
              <a:buSzPct val="266666"/>
              <a:buNone/>
            </a:pPr>
            <a:r>
              <a:t/>
            </a:r>
            <a:endParaRPr sz="3600">
              <a:solidFill>
                <a:schemeClr val="lt2"/>
              </a:solidFill>
            </a:endParaRPr>
          </a:p>
          <a:p>
            <a:pPr indent="0" lvl="0" marL="0" rtl="0" algn="l">
              <a:lnSpc>
                <a:spcPct val="100000"/>
              </a:lnSpc>
              <a:spcBef>
                <a:spcPts val="0"/>
              </a:spcBef>
              <a:spcAft>
                <a:spcPts val="0"/>
              </a:spcAft>
              <a:buSzPct val="266666"/>
              <a:buNone/>
            </a:pPr>
            <a:r>
              <a:t/>
            </a:r>
            <a:endParaRPr sz="3600">
              <a:solidFill>
                <a:schemeClr val="lt2"/>
              </a:solidFill>
            </a:endParaRPr>
          </a:p>
          <a:p>
            <a:pPr indent="0" lvl="0" marL="0" rtl="0" algn="l">
              <a:lnSpc>
                <a:spcPct val="100000"/>
              </a:lnSpc>
              <a:spcBef>
                <a:spcPts val="0"/>
              </a:spcBef>
              <a:spcAft>
                <a:spcPts val="0"/>
              </a:spcAft>
              <a:buSzPct val="266666"/>
              <a:buNone/>
            </a:pPr>
            <a:r>
              <a:t/>
            </a:r>
            <a:endParaRPr sz="3600">
              <a:solidFill>
                <a:schemeClr val="lt2"/>
              </a:solidFill>
            </a:endParaRPr>
          </a:p>
          <a:p>
            <a:pPr indent="0" lvl="0" marL="0" rtl="0" algn="l">
              <a:lnSpc>
                <a:spcPct val="100000"/>
              </a:lnSpc>
              <a:spcBef>
                <a:spcPts val="0"/>
              </a:spcBef>
              <a:spcAft>
                <a:spcPts val="0"/>
              </a:spcAft>
              <a:buSzPct val="200000"/>
              <a:buNone/>
            </a:pPr>
            <a:r>
              <a:t/>
            </a:r>
            <a:endParaRPr sz="4800">
              <a:solidFill>
                <a:schemeClr val="lt2"/>
              </a:solidFill>
            </a:endParaRPr>
          </a:p>
          <a:p>
            <a:pPr indent="0" lvl="0" marL="0" rtl="0" algn="l">
              <a:lnSpc>
                <a:spcPct val="100000"/>
              </a:lnSpc>
              <a:spcBef>
                <a:spcPts val="0"/>
              </a:spcBef>
              <a:spcAft>
                <a:spcPts val="0"/>
              </a:spcAft>
              <a:buSzPts val="2400"/>
              <a:buNone/>
            </a:pPr>
            <a:r>
              <a:t/>
            </a:r>
            <a:endParaRPr>
              <a:solidFill>
                <a:schemeClr val="l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3"/>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l"/>
              <a:t>Jak włączyć usługi w systemie Windows?</a:t>
            </a:r>
            <a:endParaRPr/>
          </a:p>
        </p:txBody>
      </p:sp>
      <p:sp>
        <p:nvSpPr>
          <p:cNvPr id="72" name="Google Shape;72;p3"/>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l"/>
              <a:t>krok po kroku</a:t>
            </a:r>
            <a:endParaRPr/>
          </a:p>
        </p:txBody>
      </p:sp>
      <p:sp>
        <p:nvSpPr>
          <p:cNvPr id="78" name="Google Shape;7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pl"/>
              <a:t>klikamy lupę w lewym dolnym rogu</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pl"/>
              <a:t>wpisujemy słowo ,,usługi’’</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pic>
        <p:nvPicPr>
          <p:cNvPr id="79" name="Google Shape;79;p4"/>
          <p:cNvPicPr preferRelativeResize="0"/>
          <p:nvPr/>
        </p:nvPicPr>
        <p:blipFill rotWithShape="1">
          <a:blip r:embed="rId3">
            <a:alphaModFix/>
          </a:blip>
          <a:srcRect b="0" l="0" r="0" t="0"/>
          <a:stretch/>
        </p:blipFill>
        <p:spPr>
          <a:xfrm>
            <a:off x="311688" y="1584700"/>
            <a:ext cx="7267575" cy="704850"/>
          </a:xfrm>
          <a:prstGeom prst="rect">
            <a:avLst/>
          </a:prstGeom>
          <a:noFill/>
          <a:ln>
            <a:noFill/>
          </a:ln>
        </p:spPr>
      </p:pic>
      <p:pic>
        <p:nvPicPr>
          <p:cNvPr id="80" name="Google Shape;80;p4"/>
          <p:cNvPicPr preferRelativeResize="0"/>
          <p:nvPr/>
        </p:nvPicPr>
        <p:blipFill rotWithShape="1">
          <a:blip r:embed="rId4">
            <a:alphaModFix/>
          </a:blip>
          <a:srcRect b="0" l="0" r="0" t="0"/>
          <a:stretch/>
        </p:blipFill>
        <p:spPr>
          <a:xfrm>
            <a:off x="311700" y="3068088"/>
            <a:ext cx="3314700" cy="1457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600"/>
              <a:buNone/>
            </a:pPr>
            <a:r>
              <a:rPr lang="pl"/>
              <a:t>Wprowadzenie, do czego służą usługi?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l"/>
              <a:t>Aplikacja usługi</a:t>
            </a:r>
            <a:endParaRPr/>
          </a:p>
        </p:txBody>
      </p:sp>
      <p:sp>
        <p:nvSpPr>
          <p:cNvPr id="91" name="Google Shape;91;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pl" sz="1200">
                <a:solidFill>
                  <a:schemeClr val="dk2"/>
                </a:solidFill>
                <a:latin typeface="Arial"/>
                <a:ea typeface="Arial"/>
                <a:cs typeface="Arial"/>
                <a:sym typeface="Arial"/>
              </a:rPr>
              <a:t>Usługi systemu Microsoft Windows, znane wcześniej jako usługi NT, umożliwiają tworzenie długotrwałych aplikacji wykonywalnych, które są uruchamiane w ich własnych sesjach systemu Windows. Te usługi mogą być uruchamiane automatycznie podczas uruchamiania komputera, mogą zostać wstrzymane i ponownie uruchomione i nie są wyświetlane żadne interfejsy użytkownika. Te funkcje sprawiają, że usługi są idealnym rozwiązaniem do użycia na serwerze, lub zawsze, gdy potrzebne są długotrwałe funkcje, które nie zakłócają innych użytkowników pracujących na tym samym komputerze.</a:t>
            </a:r>
            <a:endParaRPr>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7"/>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l"/>
              <a:t>Jak przebiega proces uruchomienia usługi?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2" name="Google Shape;102;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pl" sz="1200">
                <a:solidFill>
                  <a:schemeClr val="dk2"/>
                </a:solidFill>
                <a:latin typeface="Arial"/>
                <a:ea typeface="Arial"/>
                <a:cs typeface="Arial"/>
                <a:sym typeface="Arial"/>
              </a:rPr>
              <a:t>Najpierw usługa jest instalowana w systemie, w którym zostanie uruchomiona. Ten proces wykonuje Instalatory dla projektu usługi i ładuje usługę do Menedżera kontroli usług dla tego komputera. Menedżer sterowania usługami jest centralnym narzędziem udostępnionym przez system Windows do administrowania usługami.</a:t>
            </a: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9"/>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600"/>
              <a:buNone/>
            </a:pPr>
            <a:r>
              <a:rPr lang="pl"/>
              <a:t>Co znajdziemy w aplikacji usługi?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l"/>
              <a:t>Podstawowe rzeczy o których warto wiedzieć</a:t>
            </a:r>
            <a:endParaRPr/>
          </a:p>
        </p:txBody>
      </p:sp>
      <p:sp>
        <p:nvSpPr>
          <p:cNvPr id="113" name="Google Shape;113;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pl">
                <a:solidFill>
                  <a:schemeClr val="dk2"/>
                </a:solidFill>
              </a:rPr>
              <a:t>Każda usługa posiada: nazwa usługi, opis usługi, stan (działa lub nie), typ uruchomienia (mogą być trzy rodzaje uruchomienia: włączony, ręczny, wyłączony), logowanie jako (usługa lokalna lub system lokalny) </a:t>
            </a:r>
            <a:endParaRPr>
              <a:solidFill>
                <a:schemeClr val="dk2"/>
              </a:solidFill>
            </a:endParaRPr>
          </a:p>
        </p:txBody>
      </p:sp>
      <p:pic>
        <p:nvPicPr>
          <p:cNvPr id="114" name="Google Shape;114;p10"/>
          <p:cNvPicPr preferRelativeResize="0"/>
          <p:nvPr/>
        </p:nvPicPr>
        <p:blipFill rotWithShape="1">
          <a:blip r:embed="rId3">
            <a:alphaModFix/>
          </a:blip>
          <a:srcRect b="0" l="0" r="0" t="0"/>
          <a:stretch/>
        </p:blipFill>
        <p:spPr>
          <a:xfrm>
            <a:off x="0" y="2523817"/>
            <a:ext cx="9143999" cy="221446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l"/>
              <a:t>Zmiana widoku usług</a:t>
            </a:r>
            <a:endParaRPr/>
          </a:p>
        </p:txBody>
      </p:sp>
      <p:sp>
        <p:nvSpPr>
          <p:cNvPr id="120" name="Google Shape;120;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pl">
                <a:solidFill>
                  <a:schemeClr val="dk2"/>
                </a:solidFill>
              </a:rPr>
              <a:t>Dla wygody w aplikacji można zmienić widok usług dostępnych jest kilka opcji, wybieramy tą która nam najbardziej odpowiada.</a:t>
            </a:r>
            <a:endParaRPr>
              <a:solidFill>
                <a:schemeClr val="dk2"/>
              </a:solidFill>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pic>
        <p:nvPicPr>
          <p:cNvPr id="121" name="Google Shape;121;p11"/>
          <p:cNvPicPr preferRelativeResize="0"/>
          <p:nvPr/>
        </p:nvPicPr>
        <p:blipFill rotWithShape="1">
          <a:blip r:embed="rId3">
            <a:alphaModFix/>
          </a:blip>
          <a:srcRect b="0" l="0" r="0" t="0"/>
          <a:stretch/>
        </p:blipFill>
        <p:spPr>
          <a:xfrm>
            <a:off x="2981325" y="2283288"/>
            <a:ext cx="3181350" cy="2181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2"/>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l"/>
              <a:t>Co robić gdy jakaś usługa nie odpowiada lub po prostu mamy problem z aplikacją?</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2" name="Google Shape;13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pl">
                <a:solidFill>
                  <a:schemeClr val="dk2"/>
                </a:solidFill>
              </a:rPr>
              <a:t>Aplikacja ,,usługi’’ posiada opcję POMOC, zazwyczaj skierowuję nas to na stronę microsoftu i tam szukamy temat który dotyczy naszego problemu</a:t>
            </a:r>
            <a:endParaRPr>
              <a:solidFill>
                <a:schemeClr val="dk2"/>
              </a:solidFill>
            </a:endParaRPr>
          </a:p>
        </p:txBody>
      </p:sp>
      <p:pic>
        <p:nvPicPr>
          <p:cNvPr id="133" name="Google Shape;133;p13"/>
          <p:cNvPicPr preferRelativeResize="0"/>
          <p:nvPr/>
        </p:nvPicPr>
        <p:blipFill rotWithShape="1">
          <a:blip r:embed="rId3">
            <a:alphaModFix/>
          </a:blip>
          <a:srcRect b="0" l="0" r="0" t="0"/>
          <a:stretch/>
        </p:blipFill>
        <p:spPr>
          <a:xfrm>
            <a:off x="2281225" y="2403700"/>
            <a:ext cx="4581525" cy="1524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4"/>
          <p:cNvSpPr txBox="1"/>
          <p:nvPr>
            <p:ph type="title"/>
          </p:nvPr>
        </p:nvSpPr>
        <p:spPr>
          <a:xfrm>
            <a:off x="1673250" y="685550"/>
            <a:ext cx="5797500" cy="4090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800"/>
              <a:buNone/>
            </a:pPr>
            <a:r>
              <a:rPr lang="pl" sz="4600">
                <a:latin typeface="Arial"/>
                <a:ea typeface="Arial"/>
                <a:cs typeface="Arial"/>
                <a:sym typeface="Arial"/>
              </a:rPr>
              <a:t>Koniec 1 części prezentacji</a:t>
            </a:r>
            <a:endParaRPr sz="4600">
              <a:latin typeface="Arial"/>
              <a:ea typeface="Arial"/>
              <a:cs typeface="Arial"/>
              <a:sym typeface="Arial"/>
            </a:endParaRPr>
          </a:p>
          <a:p>
            <a:pPr indent="0" lvl="0" marL="0" rtl="0" algn="l">
              <a:lnSpc>
                <a:spcPct val="100000"/>
              </a:lnSpc>
              <a:spcBef>
                <a:spcPts val="0"/>
              </a:spcBef>
              <a:spcAft>
                <a:spcPts val="0"/>
              </a:spcAft>
              <a:buSzPts val="4800"/>
              <a:buNone/>
            </a:pPr>
            <a:r>
              <a:t/>
            </a:r>
            <a:endParaRPr sz="4600">
              <a:latin typeface="Arial"/>
              <a:ea typeface="Arial"/>
              <a:cs typeface="Arial"/>
              <a:sym typeface="Arial"/>
            </a:endParaRPr>
          </a:p>
          <a:p>
            <a:pPr indent="0" lvl="0" marL="0" rtl="0" algn="l">
              <a:lnSpc>
                <a:spcPct val="100000"/>
              </a:lnSpc>
              <a:spcBef>
                <a:spcPts val="0"/>
              </a:spcBef>
              <a:spcAft>
                <a:spcPts val="0"/>
              </a:spcAft>
              <a:buSzPts val="4800"/>
              <a:buNone/>
            </a:pPr>
            <a:r>
              <a:t/>
            </a:r>
            <a:endParaRPr sz="1800">
              <a:latin typeface="Arial"/>
              <a:ea typeface="Arial"/>
              <a:cs typeface="Arial"/>
              <a:sym typeface="Arial"/>
            </a:endParaRPr>
          </a:p>
          <a:p>
            <a:pPr indent="0" lvl="0" marL="0" rtl="0" algn="r">
              <a:lnSpc>
                <a:spcPct val="100000"/>
              </a:lnSpc>
              <a:spcBef>
                <a:spcPts val="0"/>
              </a:spcBef>
              <a:spcAft>
                <a:spcPts val="0"/>
              </a:spcAft>
              <a:buSzPts val="4800"/>
              <a:buNone/>
            </a:pPr>
            <a:r>
              <a:t/>
            </a:r>
            <a:endParaRPr sz="1800">
              <a:latin typeface="Arial"/>
              <a:ea typeface="Arial"/>
              <a:cs typeface="Arial"/>
              <a:sym typeface="Arial"/>
            </a:endParaRPr>
          </a:p>
          <a:p>
            <a:pPr indent="457200" lvl="0" marL="3657600" rtl="0" algn="ctr">
              <a:lnSpc>
                <a:spcPct val="100000"/>
              </a:lnSpc>
              <a:spcBef>
                <a:spcPts val="0"/>
              </a:spcBef>
              <a:spcAft>
                <a:spcPts val="0"/>
              </a:spcAft>
              <a:buSzPts val="4800"/>
              <a:buNone/>
            </a:pPr>
            <a:r>
              <a:rPr lang="pl" sz="1800">
                <a:latin typeface="Arial"/>
                <a:ea typeface="Arial"/>
                <a:cs typeface="Arial"/>
                <a:sym typeface="Arial"/>
              </a:rPr>
              <a:t>Autor</a:t>
            </a:r>
            <a:endParaRPr sz="1800">
              <a:latin typeface="Arial"/>
              <a:ea typeface="Arial"/>
              <a:cs typeface="Arial"/>
              <a:sym typeface="Arial"/>
            </a:endParaRPr>
          </a:p>
          <a:p>
            <a:pPr indent="0" lvl="0" marL="0" rtl="0" algn="r">
              <a:lnSpc>
                <a:spcPct val="100000"/>
              </a:lnSpc>
              <a:spcBef>
                <a:spcPts val="0"/>
              </a:spcBef>
              <a:spcAft>
                <a:spcPts val="0"/>
              </a:spcAft>
              <a:buSzPts val="4800"/>
              <a:buNone/>
            </a:pPr>
            <a:r>
              <a:rPr lang="pl" sz="1800">
                <a:latin typeface="Arial"/>
                <a:ea typeface="Arial"/>
                <a:cs typeface="Arial"/>
                <a:sym typeface="Arial"/>
              </a:rPr>
              <a:t>Kacper Zelek</a:t>
            </a:r>
            <a:endParaRPr sz="18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cdc71b9170_0_0"/>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pl"/>
              <a:t>2 część - procesy</a:t>
            </a:r>
            <a:endParaRPr/>
          </a:p>
        </p:txBody>
      </p:sp>
      <p:sp>
        <p:nvSpPr>
          <p:cNvPr id="144" name="Google Shape;144;gcdc71b9170_0_0"/>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cdddd873be_0_0"/>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pl"/>
              <a:t>Jak włączyć menedżer zadań, aby kontrolować procesy?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cdddd873be_0_5"/>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pl"/>
              <a:t>JEST NA TO SIEDEM SPOSOBÓW</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cdddd873be_0_1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1 sposób</a:t>
            </a:r>
            <a:endParaRPr/>
          </a:p>
        </p:txBody>
      </p:sp>
      <p:sp>
        <p:nvSpPr>
          <p:cNvPr id="160" name="Google Shape;160;gcdddd873be_0_1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Jest to jeden z </a:t>
            </a:r>
            <a:r>
              <a:rPr lang="pl"/>
              <a:t>Najprostszych</a:t>
            </a:r>
            <a:r>
              <a:rPr lang="pl"/>
              <a:t> kombinacji:</a:t>
            </a:r>
            <a:endParaRPr/>
          </a:p>
          <a:p>
            <a:pPr indent="0" lvl="0" marL="0" rtl="0" algn="l">
              <a:spcBef>
                <a:spcPts val="0"/>
              </a:spcBef>
              <a:spcAft>
                <a:spcPts val="0"/>
              </a:spcAft>
              <a:buNone/>
            </a:pPr>
            <a:r>
              <a:rPr lang="pl"/>
              <a:t>[ctrl] [shift] [esc]</a:t>
            </a:r>
            <a:endParaRPr/>
          </a:p>
        </p:txBody>
      </p:sp>
      <p:pic>
        <p:nvPicPr>
          <p:cNvPr id="161" name="Google Shape;161;gcdddd873be_0_10"/>
          <p:cNvPicPr preferRelativeResize="0"/>
          <p:nvPr/>
        </p:nvPicPr>
        <p:blipFill>
          <a:blip r:embed="rId3">
            <a:alphaModFix/>
          </a:blip>
          <a:stretch>
            <a:fillRect/>
          </a:stretch>
        </p:blipFill>
        <p:spPr>
          <a:xfrm>
            <a:off x="1624000" y="2049538"/>
            <a:ext cx="5895975" cy="2676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cdddd873be_0_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2 sposób</a:t>
            </a:r>
            <a:endParaRPr/>
          </a:p>
        </p:txBody>
      </p:sp>
      <p:sp>
        <p:nvSpPr>
          <p:cNvPr id="167" name="Google Shape;167;gcdddd873be_0_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Jest to kliknięcie na pasek zadań, a następnie wybrać menedżer zadań.</a:t>
            </a:r>
            <a:endParaRPr/>
          </a:p>
          <a:p>
            <a:pPr indent="0" lvl="0" marL="0" rtl="0" algn="l">
              <a:spcBef>
                <a:spcPts val="0"/>
              </a:spcBef>
              <a:spcAft>
                <a:spcPts val="0"/>
              </a:spcAft>
              <a:buNone/>
            </a:pPr>
            <a:r>
              <a:t/>
            </a:r>
            <a:endParaRPr/>
          </a:p>
        </p:txBody>
      </p:sp>
      <p:pic>
        <p:nvPicPr>
          <p:cNvPr id="168" name="Google Shape;168;gcdddd873be_0_16"/>
          <p:cNvPicPr preferRelativeResize="0"/>
          <p:nvPr/>
        </p:nvPicPr>
        <p:blipFill>
          <a:blip r:embed="rId3">
            <a:alphaModFix/>
          </a:blip>
          <a:stretch>
            <a:fillRect/>
          </a:stretch>
        </p:blipFill>
        <p:spPr>
          <a:xfrm>
            <a:off x="311697" y="1524775"/>
            <a:ext cx="2752100" cy="3416400"/>
          </a:xfrm>
          <a:prstGeom prst="rect">
            <a:avLst/>
          </a:prstGeom>
          <a:noFill/>
          <a:ln cap="flat" cmpd="sng" w="9525">
            <a:solidFill>
              <a:srgbClr val="000000"/>
            </a:solidFill>
            <a:prstDash val="solid"/>
            <a:round/>
            <a:headEnd len="sm" w="sm" type="none"/>
            <a:tailEnd len="sm" w="sm" type="none"/>
          </a:ln>
        </p:spPr>
      </p:pic>
      <p:pic>
        <p:nvPicPr>
          <p:cNvPr id="169" name="Google Shape;169;gcdddd873be_0_16"/>
          <p:cNvPicPr preferRelativeResize="0"/>
          <p:nvPr/>
        </p:nvPicPr>
        <p:blipFill>
          <a:blip r:embed="rId4">
            <a:alphaModFix/>
          </a:blip>
          <a:stretch>
            <a:fillRect/>
          </a:stretch>
        </p:blipFill>
        <p:spPr>
          <a:xfrm>
            <a:off x="3919450" y="1556838"/>
            <a:ext cx="4572401" cy="335227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cdddd873be_0_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3 sposób</a:t>
            </a:r>
            <a:endParaRPr/>
          </a:p>
        </p:txBody>
      </p:sp>
      <p:sp>
        <p:nvSpPr>
          <p:cNvPr id="175" name="Google Shape;175;gcdddd873be_0_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Trzeba kliknąć na pasku zadań lupę:</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Wpisać ,,Menedżer zadań”:</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I tyle</a:t>
            </a:r>
            <a:endParaRPr/>
          </a:p>
          <a:p>
            <a:pPr indent="0" lvl="0" marL="0" rtl="0" algn="l">
              <a:spcBef>
                <a:spcPts val="0"/>
              </a:spcBef>
              <a:spcAft>
                <a:spcPts val="0"/>
              </a:spcAft>
              <a:buNone/>
            </a:pPr>
            <a:r>
              <a:t/>
            </a:r>
            <a:endParaRPr/>
          </a:p>
        </p:txBody>
      </p:sp>
      <p:pic>
        <p:nvPicPr>
          <p:cNvPr id="176" name="Google Shape;176;gcdddd873be_0_23"/>
          <p:cNvPicPr preferRelativeResize="0"/>
          <p:nvPr/>
        </p:nvPicPr>
        <p:blipFill>
          <a:blip r:embed="rId3">
            <a:alphaModFix/>
          </a:blip>
          <a:stretch>
            <a:fillRect/>
          </a:stretch>
        </p:blipFill>
        <p:spPr>
          <a:xfrm>
            <a:off x="311700" y="1605500"/>
            <a:ext cx="2960782" cy="269825"/>
          </a:xfrm>
          <a:prstGeom prst="rect">
            <a:avLst/>
          </a:prstGeom>
          <a:noFill/>
          <a:ln>
            <a:noFill/>
          </a:ln>
        </p:spPr>
      </p:pic>
      <p:pic>
        <p:nvPicPr>
          <p:cNvPr id="177" name="Google Shape;177;gcdddd873be_0_23"/>
          <p:cNvPicPr preferRelativeResize="0"/>
          <p:nvPr/>
        </p:nvPicPr>
        <p:blipFill rotWithShape="1">
          <a:blip r:embed="rId4">
            <a:alphaModFix/>
          </a:blip>
          <a:srcRect b="13194" l="0" r="0" t="32395"/>
          <a:stretch/>
        </p:blipFill>
        <p:spPr>
          <a:xfrm>
            <a:off x="373525" y="2571750"/>
            <a:ext cx="3886200" cy="865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cdddd873be_0_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4 sposób</a:t>
            </a:r>
            <a:endParaRPr/>
          </a:p>
        </p:txBody>
      </p:sp>
      <p:sp>
        <p:nvSpPr>
          <p:cNvPr id="183" name="Google Shape;183;gcdddd873be_0_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Jest kliknięcie kombinacji klawiszy:</a:t>
            </a:r>
            <a:endParaRPr/>
          </a:p>
          <a:p>
            <a:pPr indent="0" lvl="0" marL="0" rtl="0" algn="l">
              <a:spcBef>
                <a:spcPts val="0"/>
              </a:spcBef>
              <a:spcAft>
                <a:spcPts val="0"/>
              </a:spcAft>
              <a:buNone/>
            </a:pPr>
            <a:r>
              <a:rPr lang="pl"/>
              <a:t>[ctrl] [alt] [del]</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a następnie wybranie opcji menedżer zadań.</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cddf1e3e6e_0_25"/>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89" name="Google Shape;189;gcddf1e3e6e_0_25"/>
          <p:cNvPicPr preferRelativeResize="0"/>
          <p:nvPr/>
        </p:nvPicPr>
        <p:blipFill>
          <a:blip r:embed="rId3">
            <a:alphaModFix/>
          </a:blip>
          <a:stretch>
            <a:fillRect/>
          </a:stretch>
        </p:blipFill>
        <p:spPr>
          <a:xfrm>
            <a:off x="1849314" y="526351"/>
            <a:ext cx="5445361" cy="4090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cddf1e3e6e_0_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5 SPOSÓB</a:t>
            </a:r>
            <a:endParaRPr/>
          </a:p>
        </p:txBody>
      </p:sp>
      <p:sp>
        <p:nvSpPr>
          <p:cNvPr id="195" name="Google Shape;195;gcddf1e3e6e_0_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Jest to wpisanie w wierszu poleceń komendy: ,,tasklist”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cddf1e3e6e_0_19"/>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201" name="Google Shape;201;gcddf1e3e6e_0_19"/>
          <p:cNvPicPr preferRelativeResize="0"/>
          <p:nvPr/>
        </p:nvPicPr>
        <p:blipFill>
          <a:blip r:embed="rId3">
            <a:alphaModFix/>
          </a:blip>
          <a:stretch>
            <a:fillRect/>
          </a:stretch>
        </p:blipFill>
        <p:spPr>
          <a:xfrm>
            <a:off x="1092497" y="445025"/>
            <a:ext cx="6959012" cy="4123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cddf1e3e6e_0_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6 SPOSÓB	</a:t>
            </a:r>
            <a:endParaRPr/>
          </a:p>
        </p:txBody>
      </p:sp>
      <p:sp>
        <p:nvSpPr>
          <p:cNvPr id="207" name="Google Shape;207;gcddf1e3e6e_0_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Jest to wpisanie takiej komendy w wierszu poleceń:</a:t>
            </a:r>
            <a:endParaRPr/>
          </a:p>
          <a:p>
            <a:pPr indent="0" lvl="0" marL="0" rtl="0" algn="l">
              <a:spcBef>
                <a:spcPts val="0"/>
              </a:spcBef>
              <a:spcAft>
                <a:spcPts val="0"/>
              </a:spcAft>
              <a:buNone/>
            </a:pPr>
            <a:r>
              <a:rPr lang="pl"/>
              <a:t>,,taskmgr.exe”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cddf1e3e6e_0_13"/>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213" name="Google Shape;213;gcddf1e3e6e_0_13"/>
          <p:cNvPicPr preferRelativeResize="0"/>
          <p:nvPr/>
        </p:nvPicPr>
        <p:blipFill>
          <a:blip r:embed="rId3">
            <a:alphaModFix/>
          </a:blip>
          <a:stretch>
            <a:fillRect/>
          </a:stretch>
        </p:blipFill>
        <p:spPr>
          <a:xfrm>
            <a:off x="627038" y="445025"/>
            <a:ext cx="7889923" cy="4123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cddf1e3e6e_0_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7 SPOSÓB</a:t>
            </a:r>
            <a:endParaRPr/>
          </a:p>
        </p:txBody>
      </p:sp>
      <p:sp>
        <p:nvSpPr>
          <p:cNvPr id="219" name="Google Shape;219;gcddf1e3e6e_0_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Kliknięcie kombinacji klawiszy Windows + R, wpisanie ,,taskmgr” i już mamy włączoną aplikacje.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cddf1e3e6e_0_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Co to jest menedżer zadań i do czego służy?</a:t>
            </a:r>
            <a:endParaRPr/>
          </a:p>
          <a:p>
            <a:pPr indent="0" lvl="0" marL="0" rtl="0" algn="l">
              <a:spcBef>
                <a:spcPts val="0"/>
              </a:spcBef>
              <a:spcAft>
                <a:spcPts val="0"/>
              </a:spcAft>
              <a:buNone/>
            </a:pPr>
            <a:r>
              <a:t/>
            </a:r>
            <a:endParaRPr/>
          </a:p>
        </p:txBody>
      </p:sp>
      <p:sp>
        <p:nvSpPr>
          <p:cNvPr id="225" name="Google Shape;225;gcddf1e3e6e_0_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solidFill>
                  <a:srgbClr val="000000"/>
                </a:solidFill>
                <a:uFill>
                  <a:noFill/>
                </a:uFill>
                <a:hlinkClick r:id="rId3">
                  <a:extLst>
                    <a:ext uri="{A12FA001-AC4F-418D-AE19-62706E023703}">
                      <ahyp:hlinkClr val="tx"/>
                    </a:ext>
                  </a:extLst>
                </a:hlinkClick>
              </a:rPr>
              <a:t>program</a:t>
            </a:r>
            <a:r>
              <a:rPr lang="pl">
                <a:solidFill>
                  <a:srgbClr val="000000"/>
                </a:solidFill>
              </a:rPr>
              <a:t> służący do zarządzania procesami danego </a:t>
            </a:r>
            <a:r>
              <a:rPr lang="pl">
                <a:solidFill>
                  <a:srgbClr val="000000"/>
                </a:solidFill>
                <a:uFill>
                  <a:noFill/>
                </a:uFill>
                <a:hlinkClick r:id="rId4">
                  <a:extLst>
                    <a:ext uri="{A12FA001-AC4F-418D-AE19-62706E023703}">
                      <ahyp:hlinkClr val="tx"/>
                    </a:ext>
                  </a:extLst>
                </a:hlinkClick>
              </a:rPr>
              <a:t>systemu operacyjnego</a:t>
            </a:r>
            <a:r>
              <a:rPr lang="pl">
                <a:solidFill>
                  <a:srgbClr val="000000"/>
                </a:solidFill>
              </a:rPr>
              <a:t>, monitorowania systemu analizy działania sieci, dysku i innych części składowych komputera. Zapewnia dostęp do informacji takich jak: wydajność komputera, uruchomione aplikacje i procesy (także te działające w tle), stan pamięci komputera.</a:t>
            </a:r>
            <a:endParaRPr>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cddf1e3e6e_0_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Co to są procesy w Windows 10?</a:t>
            </a:r>
            <a:endParaRPr/>
          </a:p>
        </p:txBody>
      </p:sp>
      <p:sp>
        <p:nvSpPr>
          <p:cNvPr id="231" name="Google Shape;231;gcddf1e3e6e_0_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solidFill>
                  <a:srgbClr val="000000"/>
                </a:solidFill>
              </a:rPr>
              <a:t>Zakładka pokazuje wszystkie uruchomione procesy systemu, łącznie z procesami innych użytkowników. Klikając prawym przyciskiem myszy na proces, możemy zmienić jego priorytet, uśmiercić go (od </a:t>
            </a:r>
            <a:r>
              <a:rPr lang="pl">
                <a:solidFill>
                  <a:srgbClr val="000000"/>
                </a:solidFill>
                <a:uFill>
                  <a:noFill/>
                </a:uFill>
                <a:hlinkClick r:id="rId3">
                  <a:extLst>
                    <a:ext uri="{A12FA001-AC4F-418D-AE19-62706E023703}">
                      <ahyp:hlinkClr val="tx"/>
                    </a:ext>
                  </a:extLst>
                </a:hlinkClick>
              </a:rPr>
              <a:t>Windows XP</a:t>
            </a:r>
            <a:r>
              <a:rPr lang="pl">
                <a:solidFill>
                  <a:srgbClr val="000000"/>
                </a:solidFill>
              </a:rPr>
              <a:t> można to zrobić naciskając klawisz Delete).</a:t>
            </a:r>
            <a:endParaRPr>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cddf1e3e6e_0_73"/>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l"/>
              <a:t>Koniec 2 części prezentacji</a:t>
            </a:r>
            <a:endParaRPr/>
          </a:p>
          <a:p>
            <a:pPr indent="0" lvl="0" marL="0" rtl="0" algn="l">
              <a:spcBef>
                <a:spcPts val="0"/>
              </a:spcBef>
              <a:spcAft>
                <a:spcPts val="0"/>
              </a:spcAft>
              <a:buNone/>
            </a:pPr>
            <a:r>
              <a:rPr lang="pl" sz="1500"/>
              <a:t>                                                                Ksawery Zelek</a:t>
            </a:r>
            <a:endParaRPr sz="15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cddf1e3e6e_0_78"/>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pl"/>
              <a:t>3 Część - Wątki</a:t>
            </a:r>
            <a:endParaRPr/>
          </a:p>
        </p:txBody>
      </p:sp>
      <p:sp>
        <p:nvSpPr>
          <p:cNvPr id="242" name="Google Shape;242;gcddf1e3e6e_0_78"/>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cddf1e3e6e_0_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Co to wątek?</a:t>
            </a:r>
            <a:endParaRPr/>
          </a:p>
          <a:p>
            <a:pPr indent="0" lvl="0" marL="0" rtl="0" algn="l">
              <a:spcBef>
                <a:spcPts val="0"/>
              </a:spcBef>
              <a:spcAft>
                <a:spcPts val="0"/>
              </a:spcAft>
              <a:buNone/>
            </a:pPr>
            <a:r>
              <a:t/>
            </a:r>
            <a:endParaRPr/>
          </a:p>
        </p:txBody>
      </p:sp>
      <p:sp>
        <p:nvSpPr>
          <p:cNvPr id="248" name="Google Shape;248;gcddf1e3e6e_0_8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solidFill>
                  <a:srgbClr val="000000"/>
                </a:solidFill>
              </a:rPr>
              <a:t>Wątek – część programu wykonywana współbieżnie w obrębie jednego procesu; w jednym procesie może istnieć wiele wątków</a:t>
            </a:r>
            <a:endParaRPr>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cddf1e3e6e_0_90"/>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l"/>
              <a:t>Koniec 3 części prezentacji</a:t>
            </a:r>
            <a:endParaRPr/>
          </a:p>
          <a:p>
            <a:pPr indent="0" lvl="0" marL="0" rtl="0" algn="l">
              <a:spcBef>
                <a:spcPts val="0"/>
              </a:spcBef>
              <a:spcAft>
                <a:spcPts val="0"/>
              </a:spcAft>
              <a:buNone/>
            </a:pPr>
            <a:r>
              <a:rPr lang="pl" sz="1500"/>
              <a:t>                                                            Ksawery Zelek</a:t>
            </a:r>
            <a:endParaRPr sz="15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cddf1e3e6e_0_95"/>
          <p:cNvSpPr txBox="1"/>
          <p:nvPr>
            <p:ph type="title"/>
          </p:nvPr>
        </p:nvSpPr>
        <p:spPr>
          <a:xfrm>
            <a:off x="311700" y="991475"/>
            <a:ext cx="8520600" cy="1917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pl"/>
              <a:t>KONIEC</a:t>
            </a:r>
            <a:endParaRPr/>
          </a:p>
        </p:txBody>
      </p:sp>
      <p:sp>
        <p:nvSpPr>
          <p:cNvPr id="259" name="Google Shape;259;gcddf1e3e6e_0_95"/>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Prezentację wykonali: Kacper Zelek oraz Ksawery Zelek</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