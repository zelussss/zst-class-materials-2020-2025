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cd923a730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cd923a730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cd923a730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cd923a730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cd923a730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cd923a730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cd923a730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cd923a730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cd923a730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cd923a730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cd923a730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cd923a730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cd923a730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cd923a730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cd923a730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cd923a730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cd923a730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cd923a730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cd923a730f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cd923a730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cd923a730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cd923a730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cd923a730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cd923a730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cd923a730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cd923a730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cd923a730f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cd923a730f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d923a730f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d923a730f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cd923a730f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cd923a730f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cd923a730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cd923a730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cd923a730f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cd923a730f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cd923a730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cd923a730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cd923a730f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cd923a730f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cd923a730f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cd923a730f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cd923a730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cd923a730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cd923a730f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cd923a730f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cd923a730f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cd923a730f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cd923a730f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cd923a730f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cd923a730f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cd923a730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cd923a730f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cd923a730f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cd923a730f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cd923a730f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d0ca29dae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d0ca29dae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d0ca29dae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d0ca29dae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d0ca29dae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d0ca29dae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d0ca29dae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d0ca29dae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d0ca29dae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d0ca29dae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d0ca29dae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d0ca29dae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d0ca29dae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d0ca29dae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d0ca29dae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d0ca29dae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d0ca29dae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d0ca29dae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d0ca29dae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d0ca29dae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cdc13259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cdc13259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cdc132596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cdc132596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cdc132596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cdc132596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cdc132596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cdc132596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cdc132596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cdc132596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cdc132596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cdc132596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cdc132596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cdc132596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cdc132596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cdc132596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cdc132596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cdc132596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10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hyperlink" Target="https://pl.wikipedia.org/wiki/Sztuczny_satelita" TargetMode="External"/><Relationship Id="rId10" Type="http://schemas.openxmlformats.org/officeDocument/2006/relationships/hyperlink" Target="https://pl.wikipedia.org/wiki/Satelita_rozpoznawczy" TargetMode="Externa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pl.wikipedia.org/w/index.php?title=Technologia_kosmiczna&amp;action=edit&amp;redlink=1" TargetMode="External"/><Relationship Id="rId4" Type="http://schemas.openxmlformats.org/officeDocument/2006/relationships/hyperlink" Target="https://pl.wikipedia.org/wiki/Statek_kosmiczny" TargetMode="External"/><Relationship Id="rId9" Type="http://schemas.openxmlformats.org/officeDocument/2006/relationships/hyperlink" Target="https://pl.wikipedia.org/wiki/Teleskop_kosmiczny" TargetMode="External"/><Relationship Id="rId5" Type="http://schemas.openxmlformats.org/officeDocument/2006/relationships/hyperlink" Target="https://pl.wikipedia.org/wiki/Przestrze%C5%84_kosmiczna" TargetMode="External"/><Relationship Id="rId6" Type="http://schemas.openxmlformats.org/officeDocument/2006/relationships/hyperlink" Target="https://pl.wikipedia.org/wiki/Eksploracja_kosmosu" TargetMode="External"/><Relationship Id="rId7" Type="http://schemas.openxmlformats.org/officeDocument/2006/relationships/hyperlink" Target="https://pl.wikipedia.org/wiki/Turystyka_kosmiczna" TargetMode="External"/><Relationship Id="rId8" Type="http://schemas.openxmlformats.org/officeDocument/2006/relationships/hyperlink" Target="https://pl.wikipedia.org/wiki/Satelita_telekomunikacyjn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pl.wikipedia.org/wiki/Atmosfer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drive.google.com/file/d/1kjbPKoyf1epFM-KF7T-b4CT4vJaHqSj_/view" TargetMode="Externa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pl.wikipedia.org/wiki/Orbita" TargetMode="External"/><Relationship Id="rId4" Type="http://schemas.openxmlformats.org/officeDocument/2006/relationships/hyperlink" Target="https://pl.wikipedia.org/wiki/%C5%9Arodek_mas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1" Type="http://schemas.openxmlformats.org/officeDocument/2006/relationships/hyperlink" Target="https://pl.wikipedia.org/wiki/Zwi%C4%85zek_Socjalistycznych_Republik_Radzieckich" TargetMode="External"/><Relationship Id="rId10" Type="http://schemas.openxmlformats.org/officeDocument/2006/relationships/hyperlink" Target="https://pl.wikipedia.org/wiki/Przestrze%C5%84_kosmiczna" TargetMode="External"/><Relationship Id="rId12" Type="http://schemas.openxmlformats.org/officeDocument/2006/relationships/hyperlink" Target="https://pl.wikipedia.org/wiki/Stany_Zjednoczone" TargetMode="External"/><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pl.wikipedia.org/wiki/Pies_domowy" TargetMode="External"/><Relationship Id="rId4" Type="http://schemas.openxmlformats.org/officeDocument/2006/relationships/hyperlink" Target="https://pl.wikipedia.org/wiki/Pies_nierasowy" TargetMode="External"/><Relationship Id="rId9" Type="http://schemas.openxmlformats.org/officeDocument/2006/relationships/hyperlink" Target="https://pl.wikipedia.org/wiki/Eksploracja_kosmosu" TargetMode="External"/><Relationship Id="rId5" Type="http://schemas.openxmlformats.org/officeDocument/2006/relationships/hyperlink" Target="https://pl.wikipedia.org/wiki/Niska_orbita_oko%C5%82oziemska" TargetMode="External"/><Relationship Id="rId6" Type="http://schemas.openxmlformats.org/officeDocument/2006/relationships/hyperlink" Target="https://pl.wikipedia.org/wiki/Sztuczny_satelita" TargetMode="External"/><Relationship Id="rId7" Type="http://schemas.openxmlformats.org/officeDocument/2006/relationships/hyperlink" Target="https://pl.wikipedia.org/wiki/Sputnik_2" TargetMode="External"/><Relationship Id="rId8" Type="http://schemas.openxmlformats.org/officeDocument/2006/relationships/hyperlink" Target="https://pl.wikipedia.org/wiki/Moskwa"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pl.wikipedia.org/wiki/Centrum_Kosmiczne_Johna_F._Kennedy%E2%80%99ego" TargetMode="External"/><Relationship Id="rId4" Type="http://schemas.openxmlformats.org/officeDocument/2006/relationships/hyperlink" Target="https://pl.wikipedia.org/wiki/Canaveral" TargetMode="External"/><Relationship Id="rId5" Type="http://schemas.openxmlformats.org/officeDocument/2006/relationships/hyperlink" Target="https://pl.wikipedia.org/wiki/Orbita" TargetMode="External"/><Relationship Id="rId6" Type="http://schemas.openxmlformats.org/officeDocument/2006/relationships/hyperlink" Target="https://pl.wikipedia.org/wiki/Profil_misji_Apollo#Lot_do_orbity_Ksi%C4%99%C5%BCyca" TargetMode="External"/><Relationship Id="rId7" Type="http://schemas.openxmlformats.org/officeDocument/2006/relationships/hyperlink" Target="https://pl.wikipedia.org/wiki/Profil_misji_Apollo"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upload.wikimedia.org/wikipedia/commons/4/48/Frase_de_Neil_Armstrong.ogg" TargetMode="External"/><Relationship Id="rId4" Type="http://schemas.openxmlformats.org/officeDocument/2006/relationships/hyperlink" Target="https://pl.wikipedia.org/wiki/Uniwersalny_czas_koordynowany" TargetMode="External"/><Relationship Id="rId5" Type="http://schemas.openxmlformats.org/officeDocument/2006/relationships/hyperlink" Target="https://upload.wikimedia.org/wikipedia/commons/4/48/Frase_de_Neil_Armstrong.ogg" TargetMode="External"/><Relationship Id="rId6" Type="http://schemas.openxmlformats.org/officeDocument/2006/relationships/hyperlink" Target="https://pl.wikipedia.org/wiki/NASA"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pl.wikipedia.org/wiki/Program_Wostok" TargetMode="External"/><Relationship Id="rId4" Type="http://schemas.openxmlformats.org/officeDocument/2006/relationships/hyperlink" Target="https://pl.wikipedia.org/wiki/Wostok_3" TargetMode="External"/><Relationship Id="rId5" Type="http://schemas.openxmlformats.org/officeDocument/2006/relationships/hyperlink" Target="https://pl.wikipedia.org/wiki/Wostok_4" TargetMode="External"/><Relationship Id="rId6" Type="http://schemas.openxmlformats.org/officeDocument/2006/relationships/hyperlink" Target="https://pl.wikipedia.org/wiki/Kosmonauta" TargetMode="External"/><Relationship Id="rId7" Type="http://schemas.openxmlformats.org/officeDocument/2006/relationships/hyperlink" Target="https://pl.wikipedia.org/wiki/Walentina_Tierieszkow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3.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pl.wikipedia.org/wiki/Teoria_naukowa" TargetMode="External"/><Relationship Id="rId4" Type="http://schemas.openxmlformats.org/officeDocument/2006/relationships/hyperlink" Target="https://pl.wikipedia.org/wiki/Uk%C5%82ad_S%C5%82oneczny" TargetMode="External"/><Relationship Id="rId5" Type="http://schemas.openxmlformats.org/officeDocument/2006/relationships/hyperlink" Target="https://pl.wikipedia.org/wiki/S%C5%82o%C5%84ce" TargetMode="External"/><Relationship Id="rId6" Type="http://schemas.openxmlformats.org/officeDocument/2006/relationships/hyperlink" Target="https://pl.wikipedia.org/wiki/Wszech%C5%9Bwiat" TargetMode="External"/><Relationship Id="rId7" Type="http://schemas.openxmlformats.org/officeDocument/2006/relationships/hyperlink" Target="https://pl.wikipedia.org/wiki/Uk%C5%82ad_S%C5%82oneczny" TargetMode="External"/><Relationship Id="rId8" Type="http://schemas.openxmlformats.org/officeDocument/2006/relationships/hyperlink" Target="https://pl.wikipedia.org/wiki/Ziemia"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pl.wikipedia.org/wiki/Za%C5%82ogowy_lot_kosmiczny" TargetMode="External"/><Relationship Id="rId4" Type="http://schemas.openxmlformats.org/officeDocument/2006/relationships/hyperlink" Target="https://pl.wikipedia.org/wiki/Sojuz_(pojazd_kosmiczny)" TargetMode="External"/><Relationship Id="rId5" Type="http://schemas.openxmlformats.org/officeDocument/2006/relationships/hyperlink" Target="https://pl.wikipedia.org/wiki/Salut_6" TargetMode="External"/><Relationship Id="rId6" Type="http://schemas.openxmlformats.org/officeDocument/2006/relationships/hyperlink" Target="https://pl.wikipedia.org/wiki/Lot_kosmiczny" TargetMode="External"/><Relationship Id="rId7" Type="http://schemas.openxmlformats.org/officeDocument/2006/relationships/hyperlink" Target="https://pl.wikipedia.org/wiki/Program_Interkosmos" TargetMode="External"/><Relationship Id="rId8" Type="http://schemas.openxmlformats.org/officeDocument/2006/relationships/hyperlink" Target="https://pl.wikipedia.org/wiki/Kosmonaut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pl.wikipedia.org/wiki/Miros%C5%82aw_Hermaszewski" TargetMode="External"/><Relationship Id="rId4" Type="http://schemas.openxmlformats.org/officeDocument/2006/relationships/hyperlink" Target="https://pl.wikipedia.org/wiki/Lotnictwo" TargetMode="External"/><Relationship Id="rId9" Type="http://schemas.openxmlformats.org/officeDocument/2006/relationships/hyperlink" Target="https://pl.wikipedia.org/wiki/Wszech%C5%9Bwiat" TargetMode="External"/><Relationship Id="rId5" Type="http://schemas.openxmlformats.org/officeDocument/2006/relationships/hyperlink" Target="https://pl.wikipedia.org/wiki/Kosmonauta" TargetMode="External"/><Relationship Id="rId6" Type="http://schemas.openxmlformats.org/officeDocument/2006/relationships/hyperlink" Target="https://pl.wikipedia.org/wiki/Genera%C5%82_brygady" TargetMode="External"/><Relationship Id="rId7" Type="http://schemas.openxmlformats.org/officeDocument/2006/relationships/hyperlink" Target="https://pl.wikipedia.org/wiki/Si%C5%82y_Zbrojne_Rzeczypospolitej_Polskiej" TargetMode="External"/><Relationship Id="rId8" Type="http://schemas.openxmlformats.org/officeDocument/2006/relationships/hyperlink" Target="https://pl.wikipedia.org/wiki/Polacy"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6.png"/><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a:t>HISTORIA LOTÓW KOSMICZNYCH</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Ksawery Zelek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Loty kosmiczne</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solidFill>
                  <a:srgbClr val="FFFFFF"/>
                </a:solidFill>
              </a:rPr>
              <a:t>Lot kosmiczny - </a:t>
            </a:r>
            <a:r>
              <a:rPr lang="pl">
                <a:solidFill>
                  <a:srgbClr val="FFFFFF"/>
                </a:solidFill>
              </a:rPr>
              <a:t>zastosowanie </a:t>
            </a:r>
            <a:r>
              <a:rPr lang="pl">
                <a:solidFill>
                  <a:srgbClr val="FFFFFF"/>
                </a:solidFill>
                <a:uFill>
                  <a:noFill/>
                </a:uFill>
                <a:hlinkClick r:id="rId3">
                  <a:extLst>
                    <a:ext uri="{A12FA001-AC4F-418D-AE19-62706E023703}">
                      <ahyp:hlinkClr val="tx"/>
                    </a:ext>
                  </a:extLst>
                </a:hlinkClick>
              </a:rPr>
              <a:t>technologii kosmicznej</a:t>
            </a:r>
            <a:r>
              <a:rPr lang="pl">
                <a:solidFill>
                  <a:srgbClr val="FFFFFF"/>
                </a:solidFill>
              </a:rPr>
              <a:t>, w celu wyniesienia </a:t>
            </a:r>
            <a:r>
              <a:rPr lang="pl">
                <a:solidFill>
                  <a:srgbClr val="FFFFFF"/>
                </a:solidFill>
                <a:uFill>
                  <a:noFill/>
                </a:uFill>
                <a:hlinkClick r:id="rId4">
                  <a:extLst>
                    <a:ext uri="{A12FA001-AC4F-418D-AE19-62706E023703}">
                      <ahyp:hlinkClr val="tx"/>
                    </a:ext>
                  </a:extLst>
                </a:hlinkClick>
              </a:rPr>
              <a:t>statku kosmicznego</a:t>
            </a:r>
            <a:r>
              <a:rPr lang="pl">
                <a:solidFill>
                  <a:srgbClr val="FFFFFF"/>
                </a:solidFill>
              </a:rPr>
              <a:t> w i poprzez </a:t>
            </a:r>
            <a:r>
              <a:rPr lang="pl">
                <a:solidFill>
                  <a:srgbClr val="FFFFFF"/>
                </a:solidFill>
                <a:uFill>
                  <a:noFill/>
                </a:uFill>
                <a:hlinkClick r:id="rId5">
                  <a:extLst>
                    <a:ext uri="{A12FA001-AC4F-418D-AE19-62706E023703}">
                      <ahyp:hlinkClr val="tx"/>
                    </a:ext>
                  </a:extLst>
                </a:hlinkClick>
              </a:rPr>
              <a:t>przestrzeń kosmiczną</a:t>
            </a:r>
            <a:r>
              <a:rPr lang="pl">
                <a:solidFill>
                  <a:srgbClr val="FFFFFF"/>
                </a:solidFill>
              </a:rPr>
              <a:t>.</a:t>
            </a:r>
            <a:endParaRPr>
              <a:solidFill>
                <a:srgbClr val="FFFFFF"/>
              </a:solidFill>
            </a:endParaRPr>
          </a:p>
          <a:p>
            <a:pPr indent="0" lvl="0" marL="0" rtl="0" algn="l">
              <a:spcBef>
                <a:spcPts val="1200"/>
              </a:spcBef>
              <a:spcAft>
                <a:spcPts val="0"/>
              </a:spcAft>
              <a:buNone/>
            </a:pPr>
            <a:r>
              <a:rPr lang="pl">
                <a:solidFill>
                  <a:srgbClr val="FFFFFF"/>
                </a:solidFill>
              </a:rPr>
              <a:t>Lot kosmiczny jest stosowany w </a:t>
            </a:r>
            <a:r>
              <a:rPr lang="pl">
                <a:solidFill>
                  <a:srgbClr val="FFFFFF"/>
                </a:solidFill>
                <a:uFill>
                  <a:noFill/>
                </a:uFill>
                <a:hlinkClick r:id="rId6">
                  <a:extLst>
                    <a:ext uri="{A12FA001-AC4F-418D-AE19-62706E023703}">
                      <ahyp:hlinkClr val="tx"/>
                    </a:ext>
                  </a:extLst>
                </a:hlinkClick>
              </a:rPr>
              <a:t>eksploracji kosmosu</a:t>
            </a:r>
            <a:r>
              <a:rPr lang="pl">
                <a:solidFill>
                  <a:srgbClr val="FFFFFF"/>
                </a:solidFill>
              </a:rPr>
              <a:t>, a także w celach komercyjnych, takich jak </a:t>
            </a:r>
            <a:r>
              <a:rPr lang="pl">
                <a:solidFill>
                  <a:srgbClr val="FFFFFF"/>
                </a:solidFill>
                <a:uFill>
                  <a:noFill/>
                </a:uFill>
                <a:hlinkClick r:id="rId7">
                  <a:extLst>
                    <a:ext uri="{A12FA001-AC4F-418D-AE19-62706E023703}">
                      <ahyp:hlinkClr val="tx"/>
                    </a:ext>
                  </a:extLst>
                </a:hlinkClick>
              </a:rPr>
              <a:t>turystyka kosmiczna</a:t>
            </a:r>
            <a:r>
              <a:rPr lang="pl">
                <a:solidFill>
                  <a:srgbClr val="FFFFFF"/>
                </a:solidFill>
              </a:rPr>
              <a:t> czy </a:t>
            </a:r>
            <a:r>
              <a:rPr lang="pl">
                <a:solidFill>
                  <a:srgbClr val="FFFFFF"/>
                </a:solidFill>
                <a:uFill>
                  <a:noFill/>
                </a:uFill>
                <a:hlinkClick r:id="rId8">
                  <a:extLst>
                    <a:ext uri="{A12FA001-AC4F-418D-AE19-62706E023703}">
                      <ahyp:hlinkClr val="tx"/>
                    </a:ext>
                  </a:extLst>
                </a:hlinkClick>
              </a:rPr>
              <a:t>komunikacja satelitarna</a:t>
            </a:r>
            <a:r>
              <a:rPr lang="pl">
                <a:solidFill>
                  <a:srgbClr val="FFFFFF"/>
                </a:solidFill>
              </a:rPr>
              <a:t>. Inne niekomercyjne zastosowania lotów kosmicznych to </a:t>
            </a:r>
            <a:r>
              <a:rPr lang="pl">
                <a:solidFill>
                  <a:srgbClr val="FFFFFF"/>
                </a:solidFill>
                <a:uFill>
                  <a:noFill/>
                </a:uFill>
                <a:hlinkClick r:id="rId9">
                  <a:extLst>
                    <a:ext uri="{A12FA001-AC4F-418D-AE19-62706E023703}">
                      <ahyp:hlinkClr val="tx"/>
                    </a:ext>
                  </a:extLst>
                </a:hlinkClick>
              </a:rPr>
              <a:t>obserwatoria kosmiczne</a:t>
            </a:r>
            <a:r>
              <a:rPr lang="pl">
                <a:solidFill>
                  <a:srgbClr val="FFFFFF"/>
                </a:solidFill>
              </a:rPr>
              <a:t>, </a:t>
            </a:r>
            <a:r>
              <a:rPr lang="pl">
                <a:solidFill>
                  <a:srgbClr val="FFFFFF"/>
                </a:solidFill>
                <a:uFill>
                  <a:noFill/>
                </a:uFill>
                <a:hlinkClick r:id="rId10">
                  <a:extLst>
                    <a:ext uri="{A12FA001-AC4F-418D-AE19-62706E023703}">
                      <ahyp:hlinkClr val="tx"/>
                    </a:ext>
                  </a:extLst>
                </a:hlinkClick>
              </a:rPr>
              <a:t>satelity wywiadowcze</a:t>
            </a:r>
            <a:r>
              <a:rPr lang="pl">
                <a:solidFill>
                  <a:srgbClr val="FFFFFF"/>
                </a:solidFill>
              </a:rPr>
              <a:t> i inne typy </a:t>
            </a:r>
            <a:r>
              <a:rPr lang="pl">
                <a:solidFill>
                  <a:srgbClr val="FFFFFF"/>
                </a:solidFill>
                <a:uFill>
                  <a:noFill/>
                </a:uFill>
                <a:hlinkClick r:id="rId11">
                  <a:extLst>
                    <a:ext uri="{A12FA001-AC4F-418D-AE19-62706E023703}">
                      <ahyp:hlinkClr val="tx"/>
                    </a:ext>
                  </a:extLst>
                </a:hlinkClick>
              </a:rPr>
              <a:t>satelitów</a:t>
            </a:r>
            <a:r>
              <a:rPr lang="pl">
                <a:solidFill>
                  <a:srgbClr val="FFFFFF"/>
                </a:solidFill>
              </a:rPr>
              <a:t> obserwacyjnych.</a:t>
            </a:r>
            <a:endParaRPr>
              <a:solidFill>
                <a:srgbClr val="FFFFFF"/>
              </a:solidFill>
            </a:endParaRPr>
          </a:p>
          <a:p>
            <a:pPr indent="0" lvl="0" marL="0" rtl="0" algn="l">
              <a:spcBef>
                <a:spcPts val="1200"/>
              </a:spcBef>
              <a:spcAft>
                <a:spcPts val="1200"/>
              </a:spcAft>
              <a:buNone/>
            </a:pPr>
            <a:r>
              <a:t/>
            </a:r>
            <a:endParaRPr>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a:t>Jak wygląda start rakiety?</a:t>
            </a:r>
            <a:endParaRPr/>
          </a:p>
        </p:txBody>
      </p:sp>
      <p:sp>
        <p:nvSpPr>
          <p:cNvPr id="67" name="Google Shape;67;p1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pl"/>
              <a:t>Przeanalizujemy teraz start rakiety Falcon-9, z dnia 7 kwietnia 2021 roku.</a:t>
            </a:r>
            <a:endParaRPr/>
          </a:p>
        </p:txBody>
      </p:sp>
      <p:sp>
        <p:nvSpPr>
          <p:cNvPr id="68" name="Google Shape;68;p1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l"/>
              <a:t>START</a:t>
            </a:r>
            <a:endParaRPr/>
          </a:p>
        </p:txBody>
      </p:sp>
      <p:sp>
        <p:nvSpPr>
          <p:cNvPr id="74" name="Google Shape;74;p16"/>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1" name="Google Shape;81;p17"/>
          <p:cNvPicPr preferRelativeResize="0"/>
          <p:nvPr/>
        </p:nvPicPr>
        <p:blipFill>
          <a:blip r:embed="rId3">
            <a:alphaModFix/>
          </a:blip>
          <a:stretch>
            <a:fillRect/>
          </a:stretch>
        </p:blipFill>
        <p:spPr>
          <a:xfrm>
            <a:off x="433388" y="271463"/>
            <a:ext cx="8277225" cy="4600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solidFill>
                  <a:srgbClr val="FFFFFF"/>
                </a:solidFill>
              </a:rPr>
              <a:t>Rakieta Falcon-9 wystartowała dnia 07.04.2021 o godz. 18.34 czasu polskiego.</a:t>
            </a:r>
            <a:endParaRPr>
              <a:solidFill>
                <a:srgbClr val="FFFFFF"/>
              </a:solidFill>
            </a:endParaRPr>
          </a:p>
          <a:p>
            <a:pPr indent="0" lvl="0" marL="0" rtl="0" algn="l">
              <a:spcBef>
                <a:spcPts val="1200"/>
              </a:spcBef>
              <a:spcAft>
                <a:spcPts val="0"/>
              </a:spcAft>
              <a:buNone/>
            </a:pPr>
            <a:r>
              <a:rPr lang="pl">
                <a:solidFill>
                  <a:srgbClr val="FFFFFF"/>
                </a:solidFill>
              </a:rPr>
              <a:t>W minucie (1.12) po starcie nastąpiła faza Max-Q, oznacza to, że jest to punkt maksymalnego ciśnienia dynamicznego, czyli </a:t>
            </a:r>
            <a:r>
              <a:rPr lang="pl">
                <a:solidFill>
                  <a:srgbClr val="FFFFFF"/>
                </a:solidFill>
              </a:rPr>
              <a:t>punkt, w którym naprężenia w pojeździe kosmicznym spowodowane czynnikami aerodynamicznymi w locie </a:t>
            </a:r>
            <a:r>
              <a:rPr lang="pl">
                <a:solidFill>
                  <a:srgbClr val="FFFFFF"/>
                </a:solidFill>
                <a:uFill>
                  <a:noFill/>
                </a:uFill>
                <a:hlinkClick r:id="rId3">
                  <a:extLst>
                    <a:ext uri="{A12FA001-AC4F-418D-AE19-62706E023703}">
                      <ahyp:hlinkClr val="tx"/>
                    </a:ext>
                  </a:extLst>
                </a:hlinkClick>
              </a:rPr>
              <a:t>atmosferycznym</a:t>
            </a:r>
            <a:r>
              <a:rPr lang="pl">
                <a:solidFill>
                  <a:srgbClr val="FFFFFF"/>
                </a:solidFill>
              </a:rPr>
              <a:t> osiągają maksymalną wartość.</a:t>
            </a:r>
            <a:endParaRPr>
              <a:solidFill>
                <a:srgbClr val="FFFFFF"/>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pl"/>
              <a:t>                                     </a:t>
            </a:r>
            <a:endParaRPr/>
          </a:p>
          <a:p>
            <a:pPr indent="0" lvl="0" marL="0" rtl="0" algn="l">
              <a:spcBef>
                <a:spcPts val="1200"/>
              </a:spcBef>
              <a:spcAft>
                <a:spcPts val="1200"/>
              </a:spcAft>
              <a:buNone/>
            </a:pPr>
            <a:r>
              <a:rPr lang="pl"/>
              <a:t>                              </a:t>
            </a:r>
            <a:r>
              <a:rPr lang="pl">
                <a:solidFill>
                  <a:srgbClr val="FFFFFF"/>
                </a:solidFill>
              </a:rPr>
              <a:t>Wykres przeciążeń wahadłowca podczas startu</a:t>
            </a:r>
            <a:endParaRPr>
              <a:solidFill>
                <a:srgbClr val="FFFFFF"/>
              </a:solidFill>
            </a:endParaRPr>
          </a:p>
        </p:txBody>
      </p:sp>
      <p:pic>
        <p:nvPicPr>
          <p:cNvPr id="94" name="Google Shape;94;p19"/>
          <p:cNvPicPr preferRelativeResize="0"/>
          <p:nvPr/>
        </p:nvPicPr>
        <p:blipFill>
          <a:blip r:embed="rId3">
            <a:alphaModFix/>
          </a:blip>
          <a:stretch>
            <a:fillRect/>
          </a:stretch>
        </p:blipFill>
        <p:spPr>
          <a:xfrm>
            <a:off x="2928075" y="445025"/>
            <a:ext cx="2915725" cy="2502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1" name="Google Shape;101;p20"/>
          <p:cNvPicPr preferRelativeResize="0"/>
          <p:nvPr/>
        </p:nvPicPr>
        <p:blipFill>
          <a:blip r:embed="rId3">
            <a:alphaModFix/>
          </a:blip>
          <a:stretch>
            <a:fillRect/>
          </a:stretch>
        </p:blipFill>
        <p:spPr>
          <a:xfrm>
            <a:off x="447675" y="276225"/>
            <a:ext cx="8248650" cy="4591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a:t>MECO</a:t>
            </a:r>
            <a:endParaRPr/>
          </a:p>
        </p:txBody>
      </p:sp>
      <p:sp>
        <p:nvSpPr>
          <p:cNvPr id="107" name="Google Shape;107;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pl"/>
              <a:t>MECO - odnosi się do momentu, gdy główny silnik zakończył działanie, wchodząc w fazę wybiegu.</a:t>
            </a:r>
            <a:endParaRPr/>
          </a:p>
        </p:txBody>
      </p:sp>
      <p:sp>
        <p:nvSpPr>
          <p:cNvPr id="108" name="Google Shape;108;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5" name="Google Shape;115;p22"/>
          <p:cNvPicPr preferRelativeResize="0"/>
          <p:nvPr/>
        </p:nvPicPr>
        <p:blipFill>
          <a:blip r:embed="rId3">
            <a:alphaModFix/>
          </a:blip>
          <a:stretch>
            <a:fillRect/>
          </a:stretch>
        </p:blipFill>
        <p:spPr>
          <a:xfrm>
            <a:off x="442913" y="285750"/>
            <a:ext cx="8258175" cy="457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Fairing</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solidFill>
                  <a:srgbClr val="FFFFFF"/>
                </a:solidFill>
              </a:rPr>
              <a:t>Fairing - </a:t>
            </a:r>
            <a:r>
              <a:rPr lang="pl">
                <a:solidFill>
                  <a:srgbClr val="FFFFFF"/>
                </a:solidFill>
              </a:rPr>
              <a:t>Owiewka ładunku to stożek dziobowy służący do ochrony ładunku statku kosmicznego przed wpływem ciśnienia dynamicznego i nagrzaniem aerodynamicznym podczas startu w atmosferze. </a:t>
            </a:r>
            <a:endParaRPr>
              <a:solidFill>
                <a:srgbClr val="FFFFFF"/>
              </a:solidFill>
            </a:endParaRPr>
          </a:p>
          <a:p>
            <a:pPr indent="0" lvl="0" marL="0" rtl="0" algn="l">
              <a:spcBef>
                <a:spcPts val="1200"/>
              </a:spcBef>
              <a:spcAft>
                <a:spcPts val="0"/>
              </a:spcAft>
              <a:buNone/>
            </a:pPr>
            <a:r>
              <a:rPr lang="pl">
                <a:solidFill>
                  <a:srgbClr val="FFFFFF"/>
                </a:solidFill>
              </a:rPr>
              <a:t>Dodatkową funkcją w niektórych lotach jest utrzymanie środowiska czystego dla precyzyjnych instrumentów. </a:t>
            </a:r>
            <a:endParaRPr>
              <a:solidFill>
                <a:srgbClr val="FFFFFF"/>
              </a:solidFill>
            </a:endParaRPr>
          </a:p>
          <a:p>
            <a:pPr indent="0" lvl="0" marL="0" rtl="0" algn="l">
              <a:spcBef>
                <a:spcPts val="1200"/>
              </a:spcBef>
              <a:spcAft>
                <a:spcPts val="0"/>
              </a:spcAft>
              <a:buNone/>
            </a:pPr>
            <a:r>
              <a:rPr lang="pl">
                <a:solidFill>
                  <a:srgbClr val="FFFFFF"/>
                </a:solidFill>
              </a:rPr>
              <a:t>Po wyjściu z atmosfery owiewka jest wyrzucana, wystawiając ładunek na przestrzeń kosmiczną.</a:t>
            </a:r>
            <a:endParaRPr>
              <a:solidFill>
                <a:srgbClr val="FFFFFF"/>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4"/>
          <p:cNvPicPr preferRelativeResize="0"/>
          <p:nvPr/>
        </p:nvPicPr>
        <p:blipFill>
          <a:blip r:embed="rId3">
            <a:alphaModFix/>
          </a:blip>
          <a:stretch>
            <a:fillRect/>
          </a:stretch>
        </p:blipFill>
        <p:spPr>
          <a:xfrm>
            <a:off x="471488" y="266700"/>
            <a:ext cx="8201025" cy="4610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a:t>Entry burn</a:t>
            </a:r>
            <a:endParaRPr/>
          </a:p>
        </p:txBody>
      </p:sp>
      <p:sp>
        <p:nvSpPr>
          <p:cNvPr id="134" name="Google Shape;134;p2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pl"/>
              <a:t>Entry burn (wejście w atmosferę) - wejście w atmosferę rakiety falcon-9 zaszło w 6.43 minut po starcie </a:t>
            </a:r>
            <a:endParaRPr/>
          </a:p>
        </p:txBody>
      </p:sp>
      <p:sp>
        <p:nvSpPr>
          <p:cNvPr id="135" name="Google Shape;135;p2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6"/>
          <p:cNvPicPr preferRelativeResize="0"/>
          <p:nvPr/>
        </p:nvPicPr>
        <p:blipFill>
          <a:blip r:embed="rId3">
            <a:alphaModFix/>
          </a:blip>
          <a:stretch>
            <a:fillRect/>
          </a:stretch>
        </p:blipFill>
        <p:spPr>
          <a:xfrm>
            <a:off x="433388" y="276225"/>
            <a:ext cx="8277225" cy="4591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l" sz="6000"/>
              <a:t>Lądowanie pierwszego stopnia rakiety</a:t>
            </a:r>
            <a:endParaRPr sz="6000"/>
          </a:p>
        </p:txBody>
      </p:sp>
      <p:sp>
        <p:nvSpPr>
          <p:cNvPr id="148" name="Google Shape;148;p2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5" name="Google Shape;155;p28"/>
          <p:cNvPicPr preferRelativeResize="0"/>
          <p:nvPr/>
        </p:nvPicPr>
        <p:blipFill>
          <a:blip r:embed="rId3">
            <a:alphaModFix/>
          </a:blip>
          <a:stretch>
            <a:fillRect/>
          </a:stretch>
        </p:blipFill>
        <p:spPr>
          <a:xfrm>
            <a:off x="438150" y="261938"/>
            <a:ext cx="8267700" cy="4619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a:t>SES-2</a:t>
            </a:r>
            <a:endParaRPr/>
          </a:p>
        </p:txBody>
      </p:sp>
      <p:sp>
        <p:nvSpPr>
          <p:cNvPr id="161" name="Google Shape;161;p2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pl"/>
              <a:t>Start drugiego silnika</a:t>
            </a:r>
            <a:endParaRPr/>
          </a:p>
        </p:txBody>
      </p:sp>
      <p:sp>
        <p:nvSpPr>
          <p:cNvPr id="162" name="Google Shape;162;p2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8" name="Google Shape;16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9" name="Google Shape;169;p30"/>
          <p:cNvPicPr preferRelativeResize="0"/>
          <p:nvPr/>
        </p:nvPicPr>
        <p:blipFill>
          <a:blip r:embed="rId3">
            <a:alphaModFix/>
          </a:blip>
          <a:stretch>
            <a:fillRect/>
          </a:stretch>
        </p:blipFill>
        <p:spPr>
          <a:xfrm>
            <a:off x="423863" y="271463"/>
            <a:ext cx="8296275" cy="4600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l" sz="6000"/>
              <a:t>Wypuszczenie satelit Starlink</a:t>
            </a:r>
            <a:endParaRPr sz="6000"/>
          </a:p>
        </p:txBody>
      </p:sp>
      <p:sp>
        <p:nvSpPr>
          <p:cNvPr id="175" name="Google Shape;175;p3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1" name="Google Shape;18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2" name="Google Shape;182;p32" title="Starlink Mission - YouTube – Opera 2021-04-12 23-12-18.mp4">
            <a:hlinkClick r:id="rId3"/>
          </p:cNvPr>
          <p:cNvPicPr preferRelativeResize="0"/>
          <p:nvPr/>
        </p:nvPicPr>
        <p:blipFill>
          <a:blip r:embed="rId4">
            <a:alphaModFix/>
          </a:blip>
          <a:stretch>
            <a:fillRect/>
          </a:stretch>
        </p:blipFill>
        <p:spPr>
          <a:xfrm>
            <a:off x="2286000" y="857250"/>
            <a:ext cx="4948834" cy="371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1106125"/>
            <a:ext cx="8520600" cy="1963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sz="7000"/>
              <a:t>LOTY KOSMICZNE</a:t>
            </a:r>
            <a:endParaRPr sz="7000"/>
          </a:p>
        </p:txBody>
      </p:sp>
      <p:sp>
        <p:nvSpPr>
          <p:cNvPr id="188" name="Google Shape;188;p3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l"/>
              <a:t>Pierwszy lot suborbitalny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MW 18014</a:t>
            </a:r>
            <a:endParaRPr/>
          </a:p>
        </p:txBody>
      </p:sp>
      <p:sp>
        <p:nvSpPr>
          <p:cNvPr id="199" name="Google Shape;19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solidFill>
                  <a:srgbClr val="FFFFFF"/>
                </a:solidFill>
              </a:rPr>
              <a:t>Niemcy (1944) - Wystrzelono pierwszy pocisk wykonany przez człowieka, który przekroczył linię karmana. Jest to umowna granica pomiędzy atmosferą ziemską i przestrzenią kosmiczną. Pocisk osiągnął w </a:t>
            </a:r>
            <a:r>
              <a:rPr lang="pl">
                <a:solidFill>
                  <a:srgbClr val="FFFFFF"/>
                </a:solidFill>
              </a:rPr>
              <a:t>przestrzeni</a:t>
            </a:r>
            <a:r>
              <a:rPr lang="pl">
                <a:solidFill>
                  <a:srgbClr val="FFFFFF"/>
                </a:solidFill>
              </a:rPr>
              <a:t> kosmicznej apogeum 176 km.</a:t>
            </a:r>
            <a:endParaRPr>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5" name="Google Shape;205;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1200"/>
              </a:spcAft>
              <a:buNone/>
            </a:pPr>
            <a:r>
              <a:rPr lang="pl">
                <a:solidFill>
                  <a:srgbClr val="FFFFFF"/>
                </a:solidFill>
              </a:rPr>
              <a:t>                                                Jest to pocisk typu A4</a:t>
            </a:r>
            <a:endParaRPr>
              <a:solidFill>
                <a:srgbClr val="FFFFFF"/>
              </a:solidFill>
            </a:endParaRPr>
          </a:p>
        </p:txBody>
      </p:sp>
      <p:pic>
        <p:nvPicPr>
          <p:cNvPr id="206" name="Google Shape;206;p36"/>
          <p:cNvPicPr preferRelativeResize="0"/>
          <p:nvPr/>
        </p:nvPicPr>
        <p:blipFill>
          <a:blip r:embed="rId3">
            <a:alphaModFix/>
          </a:blip>
          <a:stretch>
            <a:fillRect/>
          </a:stretch>
        </p:blipFill>
        <p:spPr>
          <a:xfrm>
            <a:off x="3429000" y="445025"/>
            <a:ext cx="2286000" cy="2990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Apsyda</a:t>
            </a:r>
            <a:endParaRPr/>
          </a:p>
        </p:txBody>
      </p:sp>
      <p:sp>
        <p:nvSpPr>
          <p:cNvPr id="212" name="Google Shape;21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solidFill>
                  <a:srgbClr val="FFFFFF"/>
                </a:solidFill>
              </a:rPr>
              <a:t>Apsyda - j</a:t>
            </a:r>
            <a:r>
              <a:rPr lang="pl">
                <a:solidFill>
                  <a:srgbClr val="FFFFFF"/>
                </a:solidFill>
              </a:rPr>
              <a:t>eden z dwóch skrajnych punktów </a:t>
            </a:r>
            <a:r>
              <a:rPr lang="pl">
                <a:solidFill>
                  <a:srgbClr val="FFFFFF"/>
                </a:solidFill>
                <a:uFill>
                  <a:noFill/>
                </a:uFill>
                <a:hlinkClick r:id="rId3">
                  <a:extLst>
                    <a:ext uri="{A12FA001-AC4F-418D-AE19-62706E023703}">
                      <ahyp:hlinkClr val="tx"/>
                    </a:ext>
                  </a:extLst>
                </a:hlinkClick>
              </a:rPr>
              <a:t>orbity eliptycznej</a:t>
            </a:r>
            <a:r>
              <a:rPr lang="pl">
                <a:solidFill>
                  <a:srgbClr val="FFFFFF"/>
                </a:solidFill>
              </a:rPr>
              <a:t>. Apsydami są:</a:t>
            </a:r>
            <a:endParaRPr>
              <a:solidFill>
                <a:srgbClr val="FFFFFF"/>
              </a:solidFill>
            </a:endParaRPr>
          </a:p>
          <a:p>
            <a:pPr indent="-342900" lvl="0" marL="457200" rtl="0" algn="l">
              <a:spcBef>
                <a:spcPts val="1200"/>
              </a:spcBef>
              <a:spcAft>
                <a:spcPts val="0"/>
              </a:spcAft>
              <a:buClr>
                <a:srgbClr val="FFFFFF"/>
              </a:buClr>
              <a:buSzPts val="1800"/>
              <a:buChar char="●"/>
            </a:pPr>
            <a:r>
              <a:rPr lang="pl">
                <a:solidFill>
                  <a:srgbClr val="FFFFFF"/>
                </a:solidFill>
              </a:rPr>
              <a:t>perycentrum (peryapsis) – punkt orbity najbliższy </a:t>
            </a:r>
            <a:r>
              <a:rPr lang="pl">
                <a:solidFill>
                  <a:srgbClr val="FFFFFF"/>
                </a:solidFill>
                <a:uFill>
                  <a:noFill/>
                </a:uFill>
                <a:hlinkClick r:id="rId4">
                  <a:extLst>
                    <a:ext uri="{A12FA001-AC4F-418D-AE19-62706E023703}">
                      <ahyp:hlinkClr val="tx"/>
                    </a:ext>
                  </a:extLst>
                </a:hlinkClick>
              </a:rPr>
              <a:t>środkowi masy</a:t>
            </a:r>
            <a:r>
              <a:rPr lang="pl">
                <a:solidFill>
                  <a:srgbClr val="FFFFFF"/>
                </a:solidFill>
              </a:rPr>
              <a:t> układu, zwykle ciału centralnemu o masie znacznie większej od mniejszego ciała obiegającego, tzw. punkt największego zbliżenia; grecki przedrostek pery- oznacza w tym kontekście „przy”</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apocentrum (apoapsis) – punkt orbity najdalszy środkowi masy układu, tzw. punkt największego oddalenia; grecki przedrostek apo- oznacza w tym kontekście „odległy” lub „oddalony”</a:t>
            </a:r>
            <a:endParaRPr>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8" name="Google Shape;21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9" name="Google Shape;219;p38"/>
          <p:cNvPicPr preferRelativeResize="0"/>
          <p:nvPr/>
        </p:nvPicPr>
        <p:blipFill>
          <a:blip r:embed="rId3">
            <a:alphaModFix/>
          </a:blip>
          <a:stretch>
            <a:fillRect/>
          </a:stretch>
        </p:blipFill>
        <p:spPr>
          <a:xfrm>
            <a:off x="2568950" y="568713"/>
            <a:ext cx="4006075" cy="40060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9"/>
          <p:cNvSpPr txBox="1"/>
          <p:nvPr>
            <p:ph type="title"/>
          </p:nvPr>
        </p:nvSpPr>
        <p:spPr>
          <a:xfrm>
            <a:off x="311700" y="1106125"/>
            <a:ext cx="85206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l" sz="6000"/>
              <a:t>Teraz coś o zwierzętach w kosmosie</a:t>
            </a:r>
            <a:endParaRPr sz="6000"/>
          </a:p>
        </p:txBody>
      </p:sp>
      <p:sp>
        <p:nvSpPr>
          <p:cNvPr id="225" name="Google Shape;225;p3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Po co zwierzęta w kosmosie?</a:t>
            </a:r>
            <a:endParaRPr/>
          </a:p>
        </p:txBody>
      </p:sp>
      <p:sp>
        <p:nvSpPr>
          <p:cNvPr id="231" name="Google Shape;231;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solidFill>
                  <a:srgbClr val="FFFFFF"/>
                </a:solidFill>
              </a:rPr>
              <a:t>Jednym z głównych celów lotów w kosmos było bezpieczeństwo człowieka. W początkach bioaustronautyki, nie wiedziano jak serce będzie reagować na duże przyspieszenie bądź bardzo dużą wysokość, dla tej potrzeby, sprawdzenia warunków, zamiast człowieka, </a:t>
            </a:r>
            <a:r>
              <a:rPr lang="pl">
                <a:solidFill>
                  <a:srgbClr val="FFFFFF"/>
                </a:solidFill>
              </a:rPr>
              <a:t>wysłano</a:t>
            </a:r>
            <a:r>
              <a:rPr lang="pl">
                <a:solidFill>
                  <a:srgbClr val="FFFFFF"/>
                </a:solidFill>
              </a:rPr>
              <a:t> w kosmos zwierzęta, na początku uśpione, dopiero później obudzone. </a:t>
            </a:r>
            <a:endParaRPr>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Pierwsza żywa istota w kosmosie.</a:t>
            </a:r>
            <a:endParaRPr/>
          </a:p>
        </p:txBody>
      </p:sp>
      <p:sp>
        <p:nvSpPr>
          <p:cNvPr id="237" name="Google Shape;237;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pl">
                <a:solidFill>
                  <a:srgbClr val="FFFFFF"/>
                </a:solidFill>
              </a:rPr>
              <a:t>suka </a:t>
            </a:r>
            <a:r>
              <a:rPr lang="pl">
                <a:solidFill>
                  <a:srgbClr val="FFFFFF"/>
                </a:solidFill>
                <a:uFill>
                  <a:noFill/>
                </a:uFill>
                <a:hlinkClick r:id="rId3">
                  <a:extLst>
                    <a:ext uri="{A12FA001-AC4F-418D-AE19-62706E023703}">
                      <ahyp:hlinkClr val="tx"/>
                    </a:ext>
                  </a:extLst>
                </a:hlinkClick>
              </a:rPr>
              <a:t>psa</a:t>
            </a:r>
            <a:r>
              <a:rPr lang="pl">
                <a:solidFill>
                  <a:srgbClr val="FFFFFF"/>
                </a:solidFill>
              </a:rPr>
              <a:t>, </a:t>
            </a:r>
            <a:r>
              <a:rPr lang="pl">
                <a:solidFill>
                  <a:srgbClr val="FFFFFF"/>
                </a:solidFill>
                <a:uFill>
                  <a:noFill/>
                </a:uFill>
                <a:hlinkClick r:id="rId4">
                  <a:extLst>
                    <a:ext uri="{A12FA001-AC4F-418D-AE19-62706E023703}">
                      <ahyp:hlinkClr val="tx"/>
                    </a:ext>
                  </a:extLst>
                </a:hlinkClick>
              </a:rPr>
              <a:t>mieszańca</a:t>
            </a:r>
            <a:r>
              <a:rPr lang="pl">
                <a:solidFill>
                  <a:srgbClr val="FFFFFF"/>
                </a:solidFill>
              </a:rPr>
              <a:t>, wystrzelona 3 listopada 1957 na </a:t>
            </a:r>
            <a:r>
              <a:rPr lang="pl">
                <a:solidFill>
                  <a:srgbClr val="FFFFFF"/>
                </a:solidFill>
                <a:uFill>
                  <a:noFill/>
                </a:uFill>
                <a:hlinkClick r:id="rId5">
                  <a:extLst>
                    <a:ext uri="{A12FA001-AC4F-418D-AE19-62706E023703}">
                      <ahyp:hlinkClr val="tx"/>
                    </a:ext>
                  </a:extLst>
                </a:hlinkClick>
              </a:rPr>
              <a:t>orbitę okołoziemską</a:t>
            </a:r>
            <a:r>
              <a:rPr lang="pl">
                <a:solidFill>
                  <a:srgbClr val="FFFFFF"/>
                </a:solidFill>
              </a:rPr>
              <a:t> w radzieckim </a:t>
            </a:r>
            <a:r>
              <a:rPr lang="pl">
                <a:solidFill>
                  <a:srgbClr val="FFFFFF"/>
                </a:solidFill>
                <a:uFill>
                  <a:noFill/>
                </a:uFill>
                <a:hlinkClick r:id="rId6">
                  <a:extLst>
                    <a:ext uri="{A12FA001-AC4F-418D-AE19-62706E023703}">
                      <ahyp:hlinkClr val="tx"/>
                    </a:ext>
                  </a:extLst>
                </a:hlinkClick>
              </a:rPr>
              <a:t>sztucznym satelicie</a:t>
            </a:r>
            <a:r>
              <a:rPr lang="pl">
                <a:solidFill>
                  <a:srgbClr val="FFFFFF"/>
                </a:solidFill>
              </a:rPr>
              <a:t> </a:t>
            </a:r>
            <a:r>
              <a:rPr lang="pl">
                <a:solidFill>
                  <a:srgbClr val="FFFFFF"/>
                </a:solidFill>
                <a:uFill>
                  <a:noFill/>
                </a:uFill>
                <a:hlinkClick r:id="rId7">
                  <a:extLst>
                    <a:ext uri="{A12FA001-AC4F-418D-AE19-62706E023703}">
                      <ahyp:hlinkClr val="tx"/>
                    </a:ext>
                  </a:extLst>
                </a:hlinkClick>
              </a:rPr>
              <a:t>Sputnik 2</a:t>
            </a:r>
            <a:r>
              <a:rPr lang="pl">
                <a:solidFill>
                  <a:srgbClr val="FFFFFF"/>
                </a:solidFill>
              </a:rPr>
              <a:t>, kosmonautka Łajka miała wówczas około dwóch lat. Okres szczenięcy przeżyła na ulicach </a:t>
            </a:r>
            <a:r>
              <a:rPr lang="pl">
                <a:solidFill>
                  <a:srgbClr val="FFFFFF"/>
                </a:solidFill>
                <a:uFill>
                  <a:noFill/>
                </a:uFill>
                <a:hlinkClick r:id="rId8">
                  <a:extLst>
                    <a:ext uri="{A12FA001-AC4F-418D-AE19-62706E023703}">
                      <ahyp:hlinkClr val="tx"/>
                    </a:ext>
                  </a:extLst>
                </a:hlinkClick>
              </a:rPr>
              <a:t>Moskwy</a:t>
            </a:r>
            <a:r>
              <a:rPr lang="pl">
                <a:solidFill>
                  <a:srgbClr val="FFFFFF"/>
                </a:solidFill>
              </a:rPr>
              <a:t>. Po jej schwytaniu przekazano ją do Instytutu Medycyny Lotniczej w celu wykorzystania w badaniach związanych z </a:t>
            </a:r>
            <a:r>
              <a:rPr lang="pl">
                <a:solidFill>
                  <a:srgbClr val="FFFFFF"/>
                </a:solidFill>
                <a:uFill>
                  <a:noFill/>
                </a:uFill>
                <a:hlinkClick r:id="rId9">
                  <a:extLst>
                    <a:ext uri="{A12FA001-AC4F-418D-AE19-62706E023703}">
                      <ahyp:hlinkClr val="tx"/>
                    </a:ext>
                  </a:extLst>
                </a:hlinkClick>
              </a:rPr>
              <a:t>eksploracją kosmosu</a:t>
            </a:r>
            <a:r>
              <a:rPr lang="pl">
                <a:solidFill>
                  <a:srgbClr val="FFFFFF"/>
                </a:solidFill>
              </a:rPr>
              <a:t>. Tuż przed lotem ważyła około 6 kilogramów. Łajka była pierwszym żywym stworzeniem umieszczonym na orbicie okołoziemskiej, chociaż nie pierwszym w </a:t>
            </a:r>
            <a:r>
              <a:rPr lang="pl">
                <a:solidFill>
                  <a:srgbClr val="FFFFFF"/>
                </a:solidFill>
                <a:uFill>
                  <a:noFill/>
                </a:uFill>
                <a:hlinkClick r:id="rId10">
                  <a:extLst>
                    <a:ext uri="{A12FA001-AC4F-418D-AE19-62706E023703}">
                      <ahyp:hlinkClr val="tx"/>
                    </a:ext>
                  </a:extLst>
                </a:hlinkClick>
              </a:rPr>
              <a:t>przestrzeni kosmicznej</a:t>
            </a:r>
            <a:r>
              <a:rPr lang="pl">
                <a:solidFill>
                  <a:srgbClr val="FFFFFF"/>
                </a:solidFill>
              </a:rPr>
              <a:t> jako takiej. </a:t>
            </a:r>
            <a:r>
              <a:rPr lang="pl">
                <a:solidFill>
                  <a:srgbClr val="FFFFFF"/>
                </a:solidFill>
                <a:uFill>
                  <a:noFill/>
                </a:uFill>
                <a:hlinkClick r:id="rId11">
                  <a:extLst>
                    <a:ext uri="{A12FA001-AC4F-418D-AE19-62706E023703}">
                      <ahyp:hlinkClr val="tx"/>
                    </a:ext>
                  </a:extLst>
                </a:hlinkClick>
              </a:rPr>
              <a:t>Związek Socjalistycznych Republik Radzieckich</a:t>
            </a:r>
            <a:r>
              <a:rPr lang="pl">
                <a:solidFill>
                  <a:srgbClr val="FFFFFF"/>
                </a:solidFill>
              </a:rPr>
              <a:t> i </a:t>
            </a:r>
            <a:r>
              <a:rPr lang="pl">
                <a:solidFill>
                  <a:srgbClr val="FFFFFF"/>
                </a:solidFill>
                <a:uFill>
                  <a:noFill/>
                </a:uFill>
                <a:hlinkClick r:id="rId12">
                  <a:extLst>
                    <a:ext uri="{A12FA001-AC4F-418D-AE19-62706E023703}">
                      <ahyp:hlinkClr val="tx"/>
                    </a:ext>
                  </a:extLst>
                </a:hlinkClick>
              </a:rPr>
              <a:t>Stany Zjednoczone</a:t>
            </a:r>
            <a:r>
              <a:rPr lang="pl">
                <a:solidFill>
                  <a:srgbClr val="FFFFFF"/>
                </a:solidFill>
              </a:rPr>
              <a:t> już wcześniej eksperymentowały z wysyłaniem zwierząt w kosmos. W założeniach eksperymentu nie przewidywano sprowadzenia psa z powrotem na Ziemię. Łajka poniosła śmierć w czasie lotu.</a:t>
            </a:r>
            <a:endParaRPr>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3" name="Google Shape;243;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1200"/>
              </a:spcAft>
              <a:buNone/>
            </a:pPr>
            <a:r>
              <a:rPr lang="pl">
                <a:solidFill>
                  <a:srgbClr val="FFFFFF"/>
                </a:solidFill>
              </a:rPr>
              <a:t>                                                   Łajka w sputniku 2</a:t>
            </a:r>
            <a:endParaRPr>
              <a:solidFill>
                <a:srgbClr val="FFFFFF"/>
              </a:solidFill>
            </a:endParaRPr>
          </a:p>
        </p:txBody>
      </p:sp>
      <p:pic>
        <p:nvPicPr>
          <p:cNvPr id="244" name="Google Shape;244;p42"/>
          <p:cNvPicPr preferRelativeResize="0"/>
          <p:nvPr/>
        </p:nvPicPr>
        <p:blipFill>
          <a:blip r:embed="rId3">
            <a:alphaModFix/>
          </a:blip>
          <a:stretch>
            <a:fillRect/>
          </a:stretch>
        </p:blipFill>
        <p:spPr>
          <a:xfrm>
            <a:off x="2094112" y="445025"/>
            <a:ext cx="4955776" cy="33006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0" name="Google Shape;250;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1200"/>
              </a:spcAft>
              <a:buNone/>
            </a:pPr>
            <a:r>
              <a:rPr lang="pl">
                <a:solidFill>
                  <a:srgbClr val="FFFFFF"/>
                </a:solidFill>
              </a:rPr>
              <a:t>                                                         Sputnik 2                  </a:t>
            </a:r>
            <a:endParaRPr>
              <a:solidFill>
                <a:srgbClr val="FFFFFF"/>
              </a:solidFill>
            </a:endParaRPr>
          </a:p>
        </p:txBody>
      </p:sp>
      <p:pic>
        <p:nvPicPr>
          <p:cNvPr id="251" name="Google Shape;251;p43"/>
          <p:cNvPicPr preferRelativeResize="0"/>
          <p:nvPr/>
        </p:nvPicPr>
        <p:blipFill>
          <a:blip r:embed="rId3">
            <a:alphaModFix/>
          </a:blip>
          <a:stretch>
            <a:fillRect/>
          </a:stretch>
        </p:blipFill>
        <p:spPr>
          <a:xfrm>
            <a:off x="3552825" y="593400"/>
            <a:ext cx="2038350" cy="3333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4"/>
          <p:cNvSpPr txBox="1"/>
          <p:nvPr>
            <p:ph type="title"/>
          </p:nvPr>
        </p:nvSpPr>
        <p:spPr>
          <a:xfrm>
            <a:off x="311700" y="1106125"/>
            <a:ext cx="8520600" cy="1963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sz="7000"/>
              <a:t>Już o ludziach</a:t>
            </a:r>
            <a:endParaRPr sz="7000"/>
          </a:p>
        </p:txBody>
      </p:sp>
      <p:sp>
        <p:nvSpPr>
          <p:cNvPr id="257" name="Google Shape;257;p4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Wostok 1 - ZSRR zwyciężyło wyścig. Pierwszy człowiek w kosmosie</a:t>
            </a:r>
            <a:endParaRPr/>
          </a:p>
        </p:txBody>
      </p:sp>
      <p:sp>
        <p:nvSpPr>
          <p:cNvPr id="263" name="Google Shape;263;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1200"/>
              </a:spcAft>
              <a:buNone/>
            </a:pPr>
            <a:r>
              <a:rPr lang="pl">
                <a:solidFill>
                  <a:srgbClr val="FFFFFF"/>
                </a:solidFill>
              </a:rPr>
              <a:t>ZSRR oraz USA ścigały się o to, kto pierwszy poleci w kosmos. Wyścig zaczął się od startu sputnika 1 w 1957 roku a zakończył się misją Wostok 1, gdzie Jurij Gagarin poleciał w kosmos w roku 1961 roku.</a:t>
            </a:r>
            <a:endParaRPr>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Wostok 1</a:t>
            </a:r>
            <a:endParaRPr/>
          </a:p>
        </p:txBody>
      </p:sp>
      <p:sp>
        <p:nvSpPr>
          <p:cNvPr id="269" name="Google Shape;269;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None/>
            </a:pPr>
            <a:r>
              <a:rPr lang="pl">
                <a:solidFill>
                  <a:srgbClr val="FFFFFF"/>
                </a:solidFill>
              </a:rPr>
              <a:t>Gagarin nadzorował aparaturę statku utrzymując nieprzerwanie łączność radiową i telegraficzną z Ziemią. Obserwacje przekazywał na Ziemię, notował w dzienniku pokładowym oraz rejestrował na taśmie magnetycznej i filmowej.</a:t>
            </a:r>
            <a:br>
              <a:rPr lang="pl">
                <a:solidFill>
                  <a:srgbClr val="FFFFFF"/>
                </a:solidFill>
              </a:rPr>
            </a:br>
            <a:br>
              <a:rPr lang="pl">
                <a:solidFill>
                  <a:srgbClr val="FFFFFF"/>
                </a:solidFill>
              </a:rPr>
            </a:br>
            <a:r>
              <a:rPr lang="pl">
                <a:solidFill>
                  <a:srgbClr val="FFFFFF"/>
                </a:solidFill>
              </a:rPr>
              <a:t>Przez cały lot aparatura pracowała według zadanego programu. Pilot prowadził pomiary elementów orbity, przekazując na Ziemię dane telemetryczne i telewizyjny obraz wnętrza statku. Automatyczne regulatory zapewniały w kabinie odpowiednią temperaturę i właściwy skład atmosfery.</a:t>
            </a:r>
            <a:br>
              <a:rPr lang="pl">
                <a:solidFill>
                  <a:srgbClr val="FFFFFF"/>
                </a:solidFill>
              </a:rPr>
            </a:br>
            <a:r>
              <a:rPr lang="pl">
                <a:solidFill>
                  <a:srgbClr val="FFFFFF"/>
                </a:solidFill>
              </a:rPr>
              <a:t>Wszystko poszło zgodnie z planem.</a:t>
            </a:r>
            <a:endParaRPr>
              <a:solidFill>
                <a:srgbClr val="FFFF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5" name="Google Shape;275;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1200"/>
              </a:spcAft>
              <a:buNone/>
            </a:pPr>
            <a:r>
              <a:rPr lang="pl">
                <a:solidFill>
                  <a:srgbClr val="FFFFFF"/>
                </a:solidFill>
              </a:rPr>
              <a:t>                                                       Jurij Gagarin</a:t>
            </a:r>
            <a:endParaRPr>
              <a:solidFill>
                <a:srgbClr val="FFFFFF"/>
              </a:solidFill>
            </a:endParaRPr>
          </a:p>
        </p:txBody>
      </p:sp>
      <p:pic>
        <p:nvPicPr>
          <p:cNvPr id="276" name="Google Shape;276;p47"/>
          <p:cNvPicPr preferRelativeResize="0"/>
          <p:nvPr/>
        </p:nvPicPr>
        <p:blipFill>
          <a:blip r:embed="rId3">
            <a:alphaModFix/>
          </a:blip>
          <a:stretch>
            <a:fillRect/>
          </a:stretch>
        </p:blipFill>
        <p:spPr>
          <a:xfrm>
            <a:off x="2700125" y="445025"/>
            <a:ext cx="3743750" cy="31665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Pierwszy człowiek na księżycu</a:t>
            </a:r>
            <a:endParaRPr/>
          </a:p>
        </p:txBody>
      </p:sp>
      <p:sp>
        <p:nvSpPr>
          <p:cNvPr id="282" name="Google Shape;282;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pl">
                <a:solidFill>
                  <a:srgbClr val="FFFFFF"/>
                </a:solidFill>
              </a:rPr>
              <a:t>Start nastąpił 16 lipca 1969 z </a:t>
            </a:r>
            <a:r>
              <a:rPr lang="pl">
                <a:solidFill>
                  <a:srgbClr val="FFFFFF"/>
                </a:solidFill>
                <a:uFill>
                  <a:noFill/>
                </a:uFill>
                <a:hlinkClick r:id="rId3">
                  <a:extLst>
                    <a:ext uri="{A12FA001-AC4F-418D-AE19-62706E023703}">
                      <ahyp:hlinkClr val="tx"/>
                    </a:ext>
                  </a:extLst>
                </a:hlinkClick>
              </a:rPr>
              <a:t>Centrum Lotów Kosmicznych</a:t>
            </a:r>
            <a:r>
              <a:rPr lang="pl">
                <a:solidFill>
                  <a:srgbClr val="FFFFFF"/>
                </a:solidFill>
              </a:rPr>
              <a:t> na </a:t>
            </a:r>
            <a:r>
              <a:rPr lang="pl">
                <a:solidFill>
                  <a:srgbClr val="FFFFFF"/>
                </a:solidFill>
                <a:uFill>
                  <a:noFill/>
                </a:uFill>
                <a:hlinkClick r:id="rId4">
                  <a:extLst>
                    <a:ext uri="{A12FA001-AC4F-418D-AE19-62706E023703}">
                      <ahyp:hlinkClr val="tx"/>
                    </a:ext>
                  </a:extLst>
                </a:hlinkClick>
              </a:rPr>
              <a:t>Canaveral</a:t>
            </a:r>
            <a:r>
              <a:rPr lang="pl">
                <a:solidFill>
                  <a:srgbClr val="FFFFFF"/>
                </a:solidFill>
              </a:rPr>
              <a:t> (w tym czasie oficjalnie Cape Kennedy). Początek lotu Apollo 11 spędził na </a:t>
            </a:r>
            <a:r>
              <a:rPr lang="pl">
                <a:solidFill>
                  <a:srgbClr val="FFFFFF"/>
                </a:solidFill>
                <a:uFill>
                  <a:noFill/>
                </a:uFill>
                <a:hlinkClick r:id="rId5">
                  <a:extLst>
                    <a:ext uri="{A12FA001-AC4F-418D-AE19-62706E023703}">
                      <ahyp:hlinkClr val="tx"/>
                    </a:ext>
                  </a:extLst>
                </a:hlinkClick>
              </a:rPr>
              <a:t>orbicie</a:t>
            </a:r>
            <a:r>
              <a:rPr lang="pl">
                <a:solidFill>
                  <a:srgbClr val="FFFFFF"/>
                </a:solidFill>
              </a:rPr>
              <a:t> okołoziemskiej, następnie udał się w trasę liczącą 384 400 km. Ponieważ lądownik znajdował się pod modułem załogowym, wykonano operację polegającą na tymczasowym odłączeniu modułu księżycowego, obrocie reszty statku o 180° i ponownym przyłączeniu lądownika, który teraz umieszczony był z przodu. Szczegóły tej operacji są omówione w podrozdziale </a:t>
            </a:r>
            <a:r>
              <a:rPr lang="pl">
                <a:solidFill>
                  <a:srgbClr val="FFFFFF"/>
                </a:solidFill>
                <a:uFill>
                  <a:noFill/>
                </a:uFill>
                <a:hlinkClick r:id="rId6">
                  <a:extLst>
                    <a:ext uri="{A12FA001-AC4F-418D-AE19-62706E023703}">
                      <ahyp:hlinkClr val="tx"/>
                    </a:ext>
                  </a:extLst>
                </a:hlinkClick>
              </a:rPr>
              <a:t>Lot do orbity Księżyca</a:t>
            </a:r>
            <a:r>
              <a:rPr lang="pl">
                <a:solidFill>
                  <a:srgbClr val="FFFFFF"/>
                </a:solidFill>
              </a:rPr>
              <a:t> rozdziału </a:t>
            </a:r>
            <a:r>
              <a:rPr lang="pl">
                <a:solidFill>
                  <a:srgbClr val="FFFFFF"/>
                </a:solidFill>
                <a:uFill>
                  <a:noFill/>
                </a:uFill>
                <a:hlinkClick r:id="rId7">
                  <a:extLst>
                    <a:ext uri="{A12FA001-AC4F-418D-AE19-62706E023703}">
                      <ahyp:hlinkClr val="tx"/>
                    </a:ext>
                  </a:extLst>
                </a:hlinkClick>
              </a:rPr>
              <a:t>Profil misji Apollo</a:t>
            </a:r>
            <a:r>
              <a:rPr lang="pl">
                <a:solidFill>
                  <a:srgbClr val="FFFFFF"/>
                </a:solidFill>
              </a:rPr>
              <a:t>. Po trzech dniach Apollo 11 wszedł na orbitę Księżyca. Armstrong i Aldrin przeszli do modułu księżycowego, który został odłączony i rozpoczął historyczne lądowanie. Astronauci wylądowali na Księżycu 20 lipca 1969 roku. Wkrótce Neil Armstrong przekazał Ziemi radosną wiadomość – „Orzeł wylądował”.</a:t>
            </a:r>
            <a:endParaRPr>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sz="2500">
                <a:solidFill>
                  <a:srgbClr val="FFFFFF"/>
                </a:solidFill>
              </a:rPr>
              <a:t> </a:t>
            </a:r>
            <a:r>
              <a:rPr lang="pl" sz="2500">
                <a:solidFill>
                  <a:srgbClr val="FFFFFF"/>
                </a:solidFill>
                <a:uFill>
                  <a:noFill/>
                </a:uFill>
                <a:hlinkClick r:id="rId3">
                  <a:extLst>
                    <a:ext uri="{A12FA001-AC4F-418D-AE19-62706E023703}">
                      <ahyp:hlinkClr val="tx"/>
                    </a:ext>
                  </a:extLst>
                </a:hlinkClick>
              </a:rPr>
              <a:t>„To jest mały krok człowieka, ale wielki skok dla ludzkości”</a:t>
            </a:r>
            <a:endParaRPr sz="2500">
              <a:solidFill>
                <a:srgbClr val="FFFFFF"/>
              </a:solidFill>
            </a:endParaRPr>
          </a:p>
        </p:txBody>
      </p:sp>
      <p:sp>
        <p:nvSpPr>
          <p:cNvPr id="288" name="Google Shape;288;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solidFill>
                  <a:srgbClr val="FFFFFF"/>
                </a:solidFill>
              </a:rPr>
              <a:t>Kiedy 21 lipca 1969, o godz. 2:56 </a:t>
            </a:r>
            <a:r>
              <a:rPr lang="pl">
                <a:solidFill>
                  <a:srgbClr val="FFFFFF"/>
                </a:solidFill>
                <a:uFill>
                  <a:noFill/>
                </a:uFill>
                <a:hlinkClick r:id="rId4">
                  <a:extLst>
                    <a:ext uri="{A12FA001-AC4F-418D-AE19-62706E023703}">
                      <ahyp:hlinkClr val="tx"/>
                    </a:ext>
                  </a:extLst>
                </a:hlinkClick>
              </a:rPr>
              <a:t>UTC</a:t>
            </a:r>
            <a:r>
              <a:rPr lang="pl">
                <a:solidFill>
                  <a:srgbClr val="FFFFFF"/>
                </a:solidFill>
              </a:rPr>
              <a:t>, Armstrong zszedł po drabince i postawił stopę na pokrytej pyłem powierzchni Srebrnego Globu, wygłosił słowa, które przeszły do historii: </a:t>
            </a:r>
            <a:r>
              <a:rPr lang="pl">
                <a:solidFill>
                  <a:srgbClr val="FFFFFF"/>
                </a:solidFill>
                <a:uFill>
                  <a:noFill/>
                </a:uFill>
                <a:hlinkClick r:id="rId5">
                  <a:extLst>
                    <a:ext uri="{A12FA001-AC4F-418D-AE19-62706E023703}">
                      <ahyp:hlinkClr val="tx"/>
                    </a:ext>
                  </a:extLst>
                </a:hlinkClick>
              </a:rPr>
              <a:t>„To jest mały krok człowieka, ale wielki skok dla ludzkości”</a:t>
            </a:r>
            <a:r>
              <a:rPr lang="pl">
                <a:solidFill>
                  <a:srgbClr val="FFFFFF"/>
                </a:solidFill>
              </a:rPr>
              <a:t>. Złośliwi zaznaczają, że przejęty Armstrong zapomniał o jednym słowie, przez co cała fraza straciła sens: zamiast „It’s one small step for a man, but one giant leap for mankind” powiedział „It’s one small step for man” (bez „a”), przez co zdanie w rzeczywistości oznaczało „to mały krok dla ludzkości, ale wielki skok dla ludzkości”. </a:t>
            </a:r>
            <a:r>
              <a:rPr lang="pl">
                <a:solidFill>
                  <a:srgbClr val="FFFFFF"/>
                </a:solidFill>
                <a:uFill>
                  <a:noFill/>
                </a:uFill>
                <a:hlinkClick r:id="rId6">
                  <a:extLst>
                    <a:ext uri="{A12FA001-AC4F-418D-AE19-62706E023703}">
                      <ahyp:hlinkClr val="tx"/>
                    </a:ext>
                  </a:extLst>
                </a:hlinkClick>
              </a:rPr>
              <a:t>NASA</a:t>
            </a:r>
            <a:r>
              <a:rPr lang="pl">
                <a:solidFill>
                  <a:srgbClr val="FFFFFF"/>
                </a:solidFill>
              </a:rPr>
              <a:t> tłumaczyła, że zdanie było kompletne, a feralnego słowa nie było słychać przez zakłócenia na łączach. W 2006 roku Peter Ford, informatyk z Australii dowiódł, że pechowe „a” Armstrong jednak wypowiedział</a:t>
            </a:r>
            <a:endParaRPr>
              <a:solidFill>
                <a:srgbClr val="FFFF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4" name="Google Shape;294;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rPr lang="pl">
                <a:solidFill>
                  <a:srgbClr val="FFFFFF"/>
                </a:solidFill>
              </a:rPr>
              <a:t>             </a:t>
            </a:r>
            <a:r>
              <a:rPr lang="pl">
                <a:solidFill>
                  <a:srgbClr val="FFFFFF"/>
                </a:solidFill>
              </a:rPr>
              <a:t>Buzz Aldrin na Księżycu sfotografowany przez Neila Armstronga</a:t>
            </a:r>
            <a:endParaRPr>
              <a:solidFill>
                <a:srgbClr val="FFFFFF"/>
              </a:solidFill>
            </a:endParaRPr>
          </a:p>
          <a:p>
            <a:pPr indent="0" lvl="0" marL="0" rtl="0" algn="l">
              <a:spcBef>
                <a:spcPts val="1200"/>
              </a:spcBef>
              <a:spcAft>
                <a:spcPts val="1200"/>
              </a:spcAft>
              <a:buNone/>
            </a:pPr>
            <a:r>
              <a:t/>
            </a:r>
            <a:endParaRPr>
              <a:solidFill>
                <a:srgbClr val="FFFFFF"/>
              </a:solidFill>
            </a:endParaRPr>
          </a:p>
        </p:txBody>
      </p:sp>
      <p:pic>
        <p:nvPicPr>
          <p:cNvPr id="295" name="Google Shape;295;p50"/>
          <p:cNvPicPr preferRelativeResize="0"/>
          <p:nvPr/>
        </p:nvPicPr>
        <p:blipFill>
          <a:blip r:embed="rId3">
            <a:alphaModFix/>
          </a:blip>
          <a:stretch>
            <a:fillRect/>
          </a:stretch>
        </p:blipFill>
        <p:spPr>
          <a:xfrm>
            <a:off x="2878298" y="506856"/>
            <a:ext cx="3164864" cy="31792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01" name="Google Shape;301;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0"/>
              </a:spcAft>
              <a:buNone/>
            </a:pPr>
            <a:r>
              <a:t/>
            </a:r>
            <a:endParaRPr>
              <a:solidFill>
                <a:srgbClr val="FFFFFF"/>
              </a:solidFill>
            </a:endParaRPr>
          </a:p>
          <a:p>
            <a:pPr indent="0" lvl="0" marL="0" rtl="0" algn="l">
              <a:spcBef>
                <a:spcPts val="1200"/>
              </a:spcBef>
              <a:spcAft>
                <a:spcPts val="1200"/>
              </a:spcAft>
              <a:buNone/>
            </a:pPr>
            <a:r>
              <a:rPr lang="pl">
                <a:solidFill>
                  <a:srgbClr val="FFFFFF"/>
                </a:solidFill>
              </a:rPr>
              <a:t>                                               </a:t>
            </a:r>
            <a:r>
              <a:rPr lang="pl">
                <a:solidFill>
                  <a:srgbClr val="FFFFFF"/>
                </a:solidFill>
              </a:rPr>
              <a:t>Ślad buta Buzza Aldrina</a:t>
            </a:r>
            <a:endParaRPr>
              <a:solidFill>
                <a:srgbClr val="FFFFFF"/>
              </a:solidFill>
            </a:endParaRPr>
          </a:p>
        </p:txBody>
      </p:sp>
      <p:pic>
        <p:nvPicPr>
          <p:cNvPr id="302" name="Google Shape;302;p51"/>
          <p:cNvPicPr preferRelativeResize="0"/>
          <p:nvPr/>
        </p:nvPicPr>
        <p:blipFill>
          <a:blip r:embed="rId3">
            <a:alphaModFix/>
          </a:blip>
          <a:stretch>
            <a:fillRect/>
          </a:stretch>
        </p:blipFill>
        <p:spPr>
          <a:xfrm>
            <a:off x="3341697" y="1152477"/>
            <a:ext cx="2460615" cy="2471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sz="2500">
                <a:solidFill>
                  <a:srgbClr val="FFFFFF"/>
                </a:solidFill>
              </a:rPr>
              <a:t>Pierwsza kobieta w kosmosie - Walentina </a:t>
            </a:r>
            <a:r>
              <a:rPr lang="pl" sz="2500">
                <a:solidFill>
                  <a:srgbClr val="FFFFFF"/>
                </a:solidFill>
              </a:rPr>
              <a:t>Tierieszkowa - Misja Wostok 6.</a:t>
            </a:r>
            <a:r>
              <a:rPr lang="pl" sz="2500">
                <a:solidFill>
                  <a:srgbClr val="FFFFFF"/>
                </a:solidFill>
              </a:rPr>
              <a:t> </a:t>
            </a:r>
            <a:endParaRPr sz="2500">
              <a:solidFill>
                <a:srgbClr val="FFFFFF"/>
              </a:solidFill>
            </a:endParaRPr>
          </a:p>
        </p:txBody>
      </p:sp>
      <p:sp>
        <p:nvSpPr>
          <p:cNvPr id="308" name="Google Shape;308;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1200"/>
              </a:spcAft>
              <a:buNone/>
            </a:pPr>
            <a:r>
              <a:rPr lang="pl">
                <a:solidFill>
                  <a:srgbClr val="FFFFFF"/>
                </a:solidFill>
              </a:rPr>
              <a:t>Pierwszy lot kosmiczny kobiety; ostatni załogowy lot kosmiczny w ramach </a:t>
            </a:r>
            <a:r>
              <a:rPr lang="pl">
                <a:solidFill>
                  <a:srgbClr val="FFFFFF"/>
                </a:solidFill>
                <a:uFill>
                  <a:noFill/>
                </a:uFill>
                <a:hlinkClick r:id="rId3">
                  <a:extLst>
                    <a:ext uri="{A12FA001-AC4F-418D-AE19-62706E023703}">
                      <ahyp:hlinkClr val="tx"/>
                    </a:ext>
                  </a:extLst>
                </a:hlinkClick>
              </a:rPr>
              <a:t>programu Wostok</a:t>
            </a:r>
            <a:r>
              <a:rPr lang="pl">
                <a:solidFill>
                  <a:srgbClr val="FFFFFF"/>
                </a:solidFill>
              </a:rPr>
              <a:t>; drugi, po misjach </a:t>
            </a:r>
            <a:r>
              <a:rPr lang="pl">
                <a:solidFill>
                  <a:srgbClr val="FFFFFF"/>
                </a:solidFill>
                <a:uFill>
                  <a:noFill/>
                </a:uFill>
                <a:hlinkClick r:id="rId4">
                  <a:extLst>
                    <a:ext uri="{A12FA001-AC4F-418D-AE19-62706E023703}">
                      <ahyp:hlinkClr val="tx"/>
                    </a:ext>
                  </a:extLst>
                </a:hlinkClick>
              </a:rPr>
              <a:t>Wostok 3</a:t>
            </a:r>
            <a:r>
              <a:rPr lang="pl">
                <a:solidFill>
                  <a:srgbClr val="FFFFFF"/>
                </a:solidFill>
              </a:rPr>
              <a:t> i </a:t>
            </a:r>
            <a:r>
              <a:rPr lang="pl">
                <a:solidFill>
                  <a:srgbClr val="FFFFFF"/>
                </a:solidFill>
                <a:uFill>
                  <a:noFill/>
                </a:uFill>
                <a:hlinkClick r:id="rId5">
                  <a:extLst>
                    <a:ext uri="{A12FA001-AC4F-418D-AE19-62706E023703}">
                      <ahyp:hlinkClr val="tx"/>
                    </a:ext>
                  </a:extLst>
                </a:hlinkClick>
              </a:rPr>
              <a:t>Wostok 4</a:t>
            </a:r>
            <a:r>
              <a:rPr lang="pl">
                <a:solidFill>
                  <a:srgbClr val="FFFFFF"/>
                </a:solidFill>
              </a:rPr>
              <a:t>, lot grupowy. Misja Wostoka 6 trwała od 16 czerwca do 19 czerwca 1963 roku. Na pokładzie znajdowała się </a:t>
            </a:r>
            <a:r>
              <a:rPr lang="pl">
                <a:solidFill>
                  <a:srgbClr val="FFFFFF"/>
                </a:solidFill>
                <a:uFill>
                  <a:noFill/>
                </a:uFill>
                <a:hlinkClick r:id="rId6">
                  <a:extLst>
                    <a:ext uri="{A12FA001-AC4F-418D-AE19-62706E023703}">
                      <ahyp:hlinkClr val="tx"/>
                    </a:ext>
                  </a:extLst>
                </a:hlinkClick>
              </a:rPr>
              <a:t>kosmonautka</a:t>
            </a:r>
            <a:r>
              <a:rPr lang="pl">
                <a:solidFill>
                  <a:srgbClr val="FFFFFF"/>
                </a:solidFill>
              </a:rPr>
              <a:t> – </a:t>
            </a:r>
            <a:r>
              <a:rPr lang="pl">
                <a:solidFill>
                  <a:srgbClr val="FFFFFF"/>
                </a:solidFill>
                <a:uFill>
                  <a:noFill/>
                </a:uFill>
                <a:hlinkClick r:id="rId7">
                  <a:extLst>
                    <a:ext uri="{A12FA001-AC4F-418D-AE19-62706E023703}">
                      <ahyp:hlinkClr val="tx"/>
                    </a:ext>
                  </a:extLst>
                </a:hlinkClick>
              </a:rPr>
              <a:t>Walentina Tierieszkowa</a:t>
            </a:r>
            <a:r>
              <a:rPr lang="pl">
                <a:solidFill>
                  <a:srgbClr val="FFFFFF"/>
                </a:solidFill>
              </a:rPr>
              <a:t>.</a:t>
            </a:r>
            <a:endParaRPr>
              <a:solidFill>
                <a:srgbClr val="FFFF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14" name="Google Shape;314;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5" name="Google Shape;315;p53"/>
          <p:cNvPicPr preferRelativeResize="0"/>
          <p:nvPr/>
        </p:nvPicPr>
        <p:blipFill>
          <a:blip r:embed="rId3">
            <a:alphaModFix/>
          </a:blip>
          <a:stretch>
            <a:fillRect/>
          </a:stretch>
        </p:blipFill>
        <p:spPr>
          <a:xfrm>
            <a:off x="183163" y="285750"/>
            <a:ext cx="4524375" cy="4572000"/>
          </a:xfrm>
          <a:prstGeom prst="rect">
            <a:avLst/>
          </a:prstGeom>
          <a:noFill/>
          <a:ln>
            <a:noFill/>
          </a:ln>
        </p:spPr>
      </p:pic>
      <p:pic>
        <p:nvPicPr>
          <p:cNvPr id="316" name="Google Shape;316;p53"/>
          <p:cNvPicPr preferRelativeResize="0"/>
          <p:nvPr/>
        </p:nvPicPr>
        <p:blipFill>
          <a:blip r:embed="rId4">
            <a:alphaModFix/>
          </a:blip>
          <a:stretch>
            <a:fillRect/>
          </a:stretch>
        </p:blipFill>
        <p:spPr>
          <a:xfrm>
            <a:off x="4784950" y="1187000"/>
            <a:ext cx="4158300" cy="2769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4"/>
          <p:cNvSpPr txBox="1"/>
          <p:nvPr>
            <p:ph type="title"/>
          </p:nvPr>
        </p:nvSpPr>
        <p:spPr>
          <a:xfrm>
            <a:off x="311700" y="1106125"/>
            <a:ext cx="8520600" cy="1963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sz="7000"/>
              <a:t>Teraz o Polakach</a:t>
            </a:r>
            <a:endParaRPr sz="7000"/>
          </a:p>
        </p:txBody>
      </p:sp>
      <p:sp>
        <p:nvSpPr>
          <p:cNvPr id="322" name="Google Shape;322;p5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sz="2500">
                <a:solidFill>
                  <a:srgbClr val="FFFFFF"/>
                </a:solidFill>
              </a:rPr>
              <a:t>Teoria Kopernika ,,O obrotach sfer niebieskich” - </a:t>
            </a:r>
            <a:r>
              <a:rPr lang="pl" sz="2500">
                <a:solidFill>
                  <a:srgbClr val="FFFFFF"/>
                </a:solidFill>
              </a:rPr>
              <a:t>teoria heliocentryczna</a:t>
            </a:r>
            <a:endParaRPr sz="2500">
              <a:solidFill>
                <a:srgbClr val="FFFFFF"/>
              </a:solidFill>
            </a:endParaRPr>
          </a:p>
        </p:txBody>
      </p:sp>
      <p:sp>
        <p:nvSpPr>
          <p:cNvPr id="328" name="Google Shape;328;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FFFFFF"/>
              </a:solidFill>
            </a:endParaRPr>
          </a:p>
          <a:p>
            <a:pPr indent="0" lvl="0" marL="0" rtl="0" algn="l">
              <a:spcBef>
                <a:spcPts val="1200"/>
              </a:spcBef>
              <a:spcAft>
                <a:spcPts val="0"/>
              </a:spcAft>
              <a:buNone/>
            </a:pPr>
            <a:r>
              <a:rPr lang="pl">
                <a:solidFill>
                  <a:srgbClr val="FFFFFF"/>
                </a:solidFill>
              </a:rPr>
              <a:t>Teoria Heliocentryczna -</a:t>
            </a:r>
            <a:r>
              <a:rPr lang="pl">
                <a:solidFill>
                  <a:srgbClr val="FFFFFF"/>
                </a:solidFill>
              </a:rPr>
              <a:t> </a:t>
            </a:r>
            <a:r>
              <a:rPr lang="pl">
                <a:solidFill>
                  <a:srgbClr val="FFFFFF"/>
                </a:solidFill>
                <a:uFill>
                  <a:noFill/>
                </a:uFill>
                <a:hlinkClick r:id="rId3">
                  <a:extLst>
                    <a:ext uri="{A12FA001-AC4F-418D-AE19-62706E023703}">
                      <ahyp:hlinkClr val="tx"/>
                    </a:ext>
                  </a:extLst>
                </a:hlinkClick>
              </a:rPr>
              <a:t>teoria</a:t>
            </a:r>
            <a:r>
              <a:rPr lang="pl">
                <a:solidFill>
                  <a:srgbClr val="FFFFFF"/>
                </a:solidFill>
              </a:rPr>
              <a:t> budowy </a:t>
            </a:r>
            <a:r>
              <a:rPr lang="pl">
                <a:solidFill>
                  <a:srgbClr val="FFFFFF"/>
                </a:solidFill>
                <a:uFill>
                  <a:noFill/>
                </a:uFill>
                <a:hlinkClick r:id="rId4">
                  <a:extLst>
                    <a:ext uri="{A12FA001-AC4F-418D-AE19-62706E023703}">
                      <ahyp:hlinkClr val="tx"/>
                    </a:ext>
                  </a:extLst>
                </a:hlinkClick>
              </a:rPr>
              <a:t>Układu Słonecznego</a:t>
            </a:r>
            <a:r>
              <a:rPr lang="pl">
                <a:solidFill>
                  <a:srgbClr val="FFFFFF"/>
                </a:solidFill>
              </a:rPr>
              <a:t>, według której w wersji historycznej </a:t>
            </a:r>
            <a:r>
              <a:rPr lang="pl">
                <a:solidFill>
                  <a:srgbClr val="FFFFFF"/>
                </a:solidFill>
                <a:uFill>
                  <a:noFill/>
                </a:uFill>
                <a:hlinkClick r:id="rId5">
                  <a:extLst>
                    <a:ext uri="{A12FA001-AC4F-418D-AE19-62706E023703}">
                      <ahyp:hlinkClr val="tx"/>
                    </a:ext>
                  </a:extLst>
                </a:hlinkClick>
              </a:rPr>
              <a:t>Słońce</a:t>
            </a:r>
            <a:r>
              <a:rPr lang="pl">
                <a:solidFill>
                  <a:srgbClr val="FFFFFF"/>
                </a:solidFill>
              </a:rPr>
              <a:t> znajduje się w środku </a:t>
            </a:r>
            <a:r>
              <a:rPr lang="pl">
                <a:solidFill>
                  <a:srgbClr val="FFFFFF"/>
                </a:solidFill>
                <a:uFill>
                  <a:noFill/>
                </a:uFill>
                <a:hlinkClick r:id="rId6">
                  <a:extLst>
                    <a:ext uri="{A12FA001-AC4F-418D-AE19-62706E023703}">
                      <ahyp:hlinkClr val="tx"/>
                    </a:ext>
                  </a:extLst>
                </a:hlinkClick>
              </a:rPr>
              <a:t>Wszechświata</a:t>
            </a:r>
            <a:r>
              <a:rPr lang="pl">
                <a:solidFill>
                  <a:srgbClr val="FFFFFF"/>
                </a:solidFill>
              </a:rPr>
              <a:t>, zaś w jego współczesnym wydaniu w centrum </a:t>
            </a:r>
            <a:r>
              <a:rPr lang="pl">
                <a:solidFill>
                  <a:srgbClr val="FFFFFF"/>
                </a:solidFill>
                <a:uFill>
                  <a:noFill/>
                </a:uFill>
                <a:hlinkClick r:id="rId7">
                  <a:extLst>
                    <a:ext uri="{A12FA001-AC4F-418D-AE19-62706E023703}">
                      <ahyp:hlinkClr val="tx"/>
                    </a:ext>
                  </a:extLst>
                </a:hlinkClick>
              </a:rPr>
              <a:t>Układu Słonecznego</a:t>
            </a:r>
            <a:r>
              <a:rPr lang="pl">
                <a:solidFill>
                  <a:srgbClr val="FFFFFF"/>
                </a:solidFill>
              </a:rPr>
              <a:t> jest Słońce, a wszystkie planety, łącznie z </a:t>
            </a:r>
            <a:r>
              <a:rPr lang="pl">
                <a:solidFill>
                  <a:srgbClr val="FFFFFF"/>
                </a:solidFill>
                <a:uFill>
                  <a:noFill/>
                </a:uFill>
                <a:hlinkClick r:id="rId8">
                  <a:extLst>
                    <a:ext uri="{A12FA001-AC4F-418D-AE19-62706E023703}">
                      <ahyp:hlinkClr val="tx"/>
                    </a:ext>
                  </a:extLst>
                </a:hlinkClick>
              </a:rPr>
              <a:t>Ziemią</a:t>
            </a:r>
            <a:r>
              <a:rPr lang="pl">
                <a:solidFill>
                  <a:srgbClr val="FFFFFF"/>
                </a:solidFill>
              </a:rPr>
              <a:t>, je obiegają.</a:t>
            </a:r>
            <a:endParaRPr>
              <a:solidFill>
                <a:srgbClr val="FFFFFF"/>
              </a:solidFill>
            </a:endParaRPr>
          </a:p>
          <a:p>
            <a:pPr indent="0" lvl="0" marL="0" rtl="0" algn="l">
              <a:spcBef>
                <a:spcPts val="1200"/>
              </a:spcBef>
              <a:spcAft>
                <a:spcPts val="1200"/>
              </a:spcAft>
              <a:buNone/>
            </a:pPr>
            <a:r>
              <a:t/>
            </a:r>
            <a:endParaRPr>
              <a:solidFill>
                <a:srgbClr val="FFFF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Kopernik - cz.2</a:t>
            </a:r>
            <a:endParaRPr/>
          </a:p>
        </p:txBody>
      </p:sp>
      <p:sp>
        <p:nvSpPr>
          <p:cNvPr id="334" name="Google Shape;334;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sz="1550">
                <a:solidFill>
                  <a:srgbClr val="FFFFFF"/>
                </a:solidFill>
              </a:rPr>
              <a:t>Mówiąc o zasługach dla kosmosu lub szukając jakichkolwiek powiązań, warto wspomnieć o Mikołaju Koperniku, który nie dość, że był renesansowym polihistorem, to jeszcze dokonał rewolucyjnego odkrycia – wywrócił astronomię do góry nogami, wprowadzając heliocentryczną wizję wszechświata swoim dziełem „O obrotach sfer niebieskich”. Co ciekawe, nie brakowało naukowców, którzy podeszli do odkrycia Kopernika krytycznie (wśród nich znaleźli się między innymi Marcin Luter czy Filip Melanchton), jednak duża część była zafascynowana nową teorią i wielu astronomów opowiedziało się po stronie Kopernika.</a:t>
            </a:r>
            <a:endParaRPr sz="1550">
              <a:solidFill>
                <a:srgbClr val="FFFFFF"/>
              </a:solidFill>
            </a:endParaRPr>
          </a:p>
          <a:p>
            <a:pPr indent="0" lvl="0" marL="0" rtl="0" algn="l">
              <a:spcBef>
                <a:spcPts val="1200"/>
              </a:spcBef>
              <a:spcAft>
                <a:spcPts val="0"/>
              </a:spcAft>
              <a:buNone/>
            </a:pPr>
            <a:r>
              <a:rPr lang="pl" sz="1550">
                <a:solidFill>
                  <a:srgbClr val="FFFFFF"/>
                </a:solidFill>
              </a:rPr>
              <a:t>Do grona wczesnych zwolenników heliocentryzmu należeli między innymi astronomowie Thomas Digges, Michael Maestlin, Johannes Kepler czy filozof Giordano Bruno. Wyjście naprzeciw dotychczasowej teorii geocentrycznej, która trwała aż 1600 lat, wymagało ogromnej odwagi Mikołaja Kopernika – jego odkrycie z pewnością dało do myślenia wielu naukowcom, natomiast polskim mężom nauki dało odwagę do tego, by łamać schematy i otworzyć umysły na odkrycia nie z tej ziemi.</a:t>
            </a:r>
            <a:endParaRPr sz="1550">
              <a:solidFill>
                <a:srgbClr val="FFFFFF"/>
              </a:solidFill>
            </a:endParaRPr>
          </a:p>
          <a:p>
            <a:pPr indent="0" lvl="0" marL="0" rtl="0" algn="l">
              <a:spcBef>
                <a:spcPts val="1200"/>
              </a:spcBef>
              <a:spcAft>
                <a:spcPts val="1200"/>
              </a:spcAft>
              <a:buNone/>
            </a:pPr>
            <a:r>
              <a:t/>
            </a:r>
            <a:endParaRPr sz="1500">
              <a:solidFill>
                <a:srgbClr val="FFFFF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Pierwszy polak w kosmosie - misja Sojuz 30</a:t>
            </a:r>
            <a:endParaRPr/>
          </a:p>
        </p:txBody>
      </p:sp>
      <p:sp>
        <p:nvSpPr>
          <p:cNvPr id="340" name="Google Shape;340;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solidFill>
                  <a:srgbClr val="FFFFFF"/>
                </a:solidFill>
              </a:rPr>
              <a:t>Sojuz 30 - piąty udany </a:t>
            </a:r>
            <a:r>
              <a:rPr lang="pl">
                <a:solidFill>
                  <a:srgbClr val="FFFFFF"/>
                </a:solidFill>
                <a:uFill>
                  <a:noFill/>
                </a:uFill>
                <a:hlinkClick r:id="rId3">
                  <a:extLst>
                    <a:ext uri="{A12FA001-AC4F-418D-AE19-62706E023703}">
                      <ahyp:hlinkClr val="tx"/>
                    </a:ext>
                  </a:extLst>
                </a:hlinkClick>
              </a:rPr>
              <a:t>załogowy lot kosmiczny</a:t>
            </a:r>
            <a:r>
              <a:rPr lang="pl">
                <a:solidFill>
                  <a:srgbClr val="FFFFFF"/>
                </a:solidFill>
              </a:rPr>
              <a:t> pojazdu </a:t>
            </a:r>
            <a:r>
              <a:rPr lang="pl">
                <a:solidFill>
                  <a:srgbClr val="FFFFFF"/>
                </a:solidFill>
                <a:uFill>
                  <a:noFill/>
                </a:uFill>
                <a:hlinkClick r:id="rId4">
                  <a:extLst>
                    <a:ext uri="{A12FA001-AC4F-418D-AE19-62706E023703}">
                      <ahyp:hlinkClr val="tx"/>
                    </a:ext>
                  </a:extLst>
                </a:hlinkClick>
              </a:rPr>
              <a:t>Sojuz</a:t>
            </a:r>
            <a:r>
              <a:rPr lang="pl">
                <a:solidFill>
                  <a:srgbClr val="FFFFFF"/>
                </a:solidFill>
              </a:rPr>
              <a:t> na stację orbitalną </a:t>
            </a:r>
            <a:r>
              <a:rPr lang="pl">
                <a:solidFill>
                  <a:srgbClr val="FFFFFF"/>
                </a:solidFill>
                <a:uFill>
                  <a:noFill/>
                </a:uFill>
                <a:hlinkClick r:id="rId5">
                  <a:extLst>
                    <a:ext uri="{A12FA001-AC4F-418D-AE19-62706E023703}">
                      <ahyp:hlinkClr val="tx"/>
                    </a:ext>
                  </a:extLst>
                </a:hlinkClick>
              </a:rPr>
              <a:t>Salut 6</a:t>
            </a:r>
            <a:r>
              <a:rPr lang="pl">
                <a:solidFill>
                  <a:srgbClr val="FFFFFF"/>
                </a:solidFill>
              </a:rPr>
              <a:t>. Był to drugi </a:t>
            </a:r>
            <a:r>
              <a:rPr lang="pl">
                <a:solidFill>
                  <a:srgbClr val="FFFFFF"/>
                </a:solidFill>
                <a:uFill>
                  <a:noFill/>
                </a:uFill>
                <a:hlinkClick r:id="rId6">
                  <a:extLst>
                    <a:ext uri="{A12FA001-AC4F-418D-AE19-62706E023703}">
                      <ahyp:hlinkClr val="tx"/>
                    </a:ext>
                  </a:extLst>
                </a:hlinkClick>
              </a:rPr>
              <a:t>lot kosmiczny</a:t>
            </a:r>
            <a:r>
              <a:rPr lang="pl">
                <a:solidFill>
                  <a:srgbClr val="FFFFFF"/>
                </a:solidFill>
              </a:rPr>
              <a:t> zorganizowany w ramach międzynarodowego programu badań kosmicznych </a:t>
            </a:r>
            <a:r>
              <a:rPr lang="pl">
                <a:solidFill>
                  <a:srgbClr val="FFFFFF"/>
                </a:solidFill>
                <a:uFill>
                  <a:noFill/>
                </a:uFill>
                <a:hlinkClick r:id="rId7">
                  <a:extLst>
                    <a:ext uri="{A12FA001-AC4F-418D-AE19-62706E023703}">
                      <ahyp:hlinkClr val="tx"/>
                    </a:ext>
                  </a:extLst>
                </a:hlinkClick>
              </a:rPr>
              <a:t>Interkosmos</a:t>
            </a:r>
            <a:r>
              <a:rPr lang="pl">
                <a:solidFill>
                  <a:srgbClr val="FFFFFF"/>
                </a:solidFill>
              </a:rPr>
              <a:t> i pierwszy z udziałem polskiego </a:t>
            </a:r>
            <a:r>
              <a:rPr lang="pl">
                <a:solidFill>
                  <a:srgbClr val="FFFFFF"/>
                </a:solidFill>
                <a:uFill>
                  <a:noFill/>
                </a:uFill>
                <a:hlinkClick r:id="rId8">
                  <a:extLst>
                    <a:ext uri="{A12FA001-AC4F-418D-AE19-62706E023703}">
                      <ahyp:hlinkClr val="tx"/>
                    </a:ext>
                  </a:extLst>
                </a:hlinkClick>
              </a:rPr>
              <a:t>kosmonauty</a:t>
            </a:r>
            <a:r>
              <a:rPr lang="pl">
                <a:solidFill>
                  <a:srgbClr val="FFFFFF"/>
                </a:solidFill>
              </a:rPr>
              <a:t>. Lot Sojuza 30 miał miejsce w dniach 27 czerwca do 5 lipca 1978.</a:t>
            </a:r>
            <a:endParaRPr>
              <a:solidFill>
                <a:srgbClr val="FFFF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sz="2500">
                <a:solidFill>
                  <a:srgbClr val="FFFFFF"/>
                </a:solidFill>
                <a:uFill>
                  <a:noFill/>
                </a:uFill>
                <a:hlinkClick r:id="rId3">
                  <a:extLst>
                    <a:ext uri="{A12FA001-AC4F-418D-AE19-62706E023703}">
                      <ahyp:hlinkClr val="tx"/>
                    </a:ext>
                  </a:extLst>
                </a:hlinkClick>
              </a:rPr>
              <a:t>Mirosław Hermaszewski</a:t>
            </a:r>
            <a:endParaRPr sz="2500">
              <a:solidFill>
                <a:srgbClr val="FFFFFF"/>
              </a:solidFill>
            </a:endParaRPr>
          </a:p>
        </p:txBody>
      </p:sp>
      <p:sp>
        <p:nvSpPr>
          <p:cNvPr id="346" name="Google Shape;346;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solidFill>
                  <a:srgbClr val="FFFFFF"/>
                </a:solidFill>
                <a:uFill>
                  <a:noFill/>
                </a:uFill>
                <a:hlinkClick r:id="rId4">
                  <a:extLst>
                    <a:ext uri="{A12FA001-AC4F-418D-AE19-62706E023703}">
                      <ahyp:hlinkClr val="tx"/>
                    </a:ext>
                  </a:extLst>
                </a:hlinkClick>
              </a:rPr>
              <a:t>lotnik</a:t>
            </a:r>
            <a:r>
              <a:rPr lang="pl">
                <a:solidFill>
                  <a:srgbClr val="FFFFFF"/>
                </a:solidFill>
              </a:rPr>
              <a:t>, </a:t>
            </a:r>
            <a:r>
              <a:rPr lang="pl">
                <a:solidFill>
                  <a:srgbClr val="FFFFFF"/>
                </a:solidFill>
                <a:uFill>
                  <a:noFill/>
                </a:uFill>
                <a:hlinkClick r:id="rId5">
                  <a:extLst>
                    <a:ext uri="{A12FA001-AC4F-418D-AE19-62706E023703}">
                      <ahyp:hlinkClr val="tx"/>
                    </a:ext>
                  </a:extLst>
                </a:hlinkClick>
              </a:rPr>
              <a:t>kosmonauta</a:t>
            </a:r>
            <a:r>
              <a:rPr lang="pl">
                <a:solidFill>
                  <a:srgbClr val="FFFFFF"/>
                </a:solidFill>
              </a:rPr>
              <a:t>, </a:t>
            </a:r>
            <a:r>
              <a:rPr lang="pl">
                <a:solidFill>
                  <a:srgbClr val="FFFFFF"/>
                </a:solidFill>
                <a:uFill>
                  <a:noFill/>
                </a:uFill>
                <a:hlinkClick r:id="rId6">
                  <a:extLst>
                    <a:ext uri="{A12FA001-AC4F-418D-AE19-62706E023703}">
                      <ahyp:hlinkClr val="tx"/>
                    </a:ext>
                  </a:extLst>
                </a:hlinkClick>
              </a:rPr>
              <a:t>generał brygady</a:t>
            </a:r>
            <a:r>
              <a:rPr lang="pl">
                <a:solidFill>
                  <a:srgbClr val="FFFFFF"/>
                </a:solidFill>
              </a:rPr>
              <a:t> i pilot </a:t>
            </a:r>
            <a:r>
              <a:rPr lang="pl">
                <a:solidFill>
                  <a:srgbClr val="FFFFFF"/>
                </a:solidFill>
                <a:uFill>
                  <a:noFill/>
                </a:uFill>
                <a:hlinkClick r:id="rId7">
                  <a:extLst>
                    <a:ext uri="{A12FA001-AC4F-418D-AE19-62706E023703}">
                      <ahyp:hlinkClr val="tx"/>
                    </a:ext>
                  </a:extLst>
                </a:hlinkClick>
              </a:rPr>
              <a:t>Wojska Polskiego</a:t>
            </a:r>
            <a:r>
              <a:rPr lang="pl">
                <a:solidFill>
                  <a:srgbClr val="FFFFFF"/>
                </a:solidFill>
              </a:rPr>
              <a:t>. Pierwszy i jedyny w dotychczasowej historii </a:t>
            </a:r>
            <a:r>
              <a:rPr lang="pl">
                <a:solidFill>
                  <a:srgbClr val="FFFFFF"/>
                </a:solidFill>
                <a:uFill>
                  <a:noFill/>
                </a:uFill>
                <a:hlinkClick r:id="rId8">
                  <a:extLst>
                    <a:ext uri="{A12FA001-AC4F-418D-AE19-62706E023703}">
                      <ahyp:hlinkClr val="tx"/>
                    </a:ext>
                  </a:extLst>
                </a:hlinkClick>
              </a:rPr>
              <a:t>Polak</a:t>
            </a:r>
            <a:r>
              <a:rPr lang="pl">
                <a:solidFill>
                  <a:srgbClr val="FFFFFF"/>
                </a:solidFill>
              </a:rPr>
              <a:t>, który odbył lot w </a:t>
            </a:r>
            <a:r>
              <a:rPr lang="pl">
                <a:solidFill>
                  <a:srgbClr val="FFFFFF"/>
                </a:solidFill>
                <a:uFill>
                  <a:noFill/>
                </a:uFill>
                <a:hlinkClick r:id="rId9">
                  <a:extLst>
                    <a:ext uri="{A12FA001-AC4F-418D-AE19-62706E023703}">
                      <ahyp:hlinkClr val="tx"/>
                    </a:ext>
                  </a:extLst>
                </a:hlinkClick>
              </a:rPr>
              <a:t>kosmos</a:t>
            </a:r>
            <a:r>
              <a:rPr lang="pl">
                <a:solidFill>
                  <a:srgbClr val="FFFFFF"/>
                </a:solidFill>
              </a:rPr>
              <a:t>.</a:t>
            </a:r>
            <a:endParaRPr>
              <a:solidFill>
                <a:srgbClr val="FFFFF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2" name="Google Shape;352;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3" name="Google Shape;353;p59"/>
          <p:cNvPicPr preferRelativeResize="0"/>
          <p:nvPr/>
        </p:nvPicPr>
        <p:blipFill>
          <a:blip r:embed="rId3">
            <a:alphaModFix/>
          </a:blip>
          <a:stretch>
            <a:fillRect/>
          </a:stretch>
        </p:blipFill>
        <p:spPr>
          <a:xfrm>
            <a:off x="311700" y="285750"/>
            <a:ext cx="3086100" cy="4572000"/>
          </a:xfrm>
          <a:prstGeom prst="rect">
            <a:avLst/>
          </a:prstGeom>
          <a:noFill/>
          <a:ln>
            <a:noFill/>
          </a:ln>
        </p:spPr>
      </p:pic>
      <p:pic>
        <p:nvPicPr>
          <p:cNvPr id="354" name="Google Shape;354;p59"/>
          <p:cNvPicPr preferRelativeResize="0"/>
          <p:nvPr/>
        </p:nvPicPr>
        <p:blipFill>
          <a:blip r:embed="rId4">
            <a:alphaModFix/>
          </a:blip>
          <a:stretch>
            <a:fillRect/>
          </a:stretch>
        </p:blipFill>
        <p:spPr>
          <a:xfrm>
            <a:off x="4571988" y="285750"/>
            <a:ext cx="3114675" cy="4572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0"/>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l"/>
              <a:t>KONIEC</a:t>
            </a:r>
            <a:endParaRPr/>
          </a:p>
        </p:txBody>
      </p:sp>
      <p:sp>
        <p:nvSpPr>
          <p:cNvPr id="360" name="Google Shape;360;p6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