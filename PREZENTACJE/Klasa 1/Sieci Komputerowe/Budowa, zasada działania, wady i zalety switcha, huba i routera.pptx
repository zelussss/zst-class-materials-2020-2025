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slide" Target="slides/slide14.xml"/><Relationship Id="rId6" Type="http://schemas.openxmlformats.org/officeDocument/2006/relationships/slide" Target="slides/slide1.xml"/><Relationship Id="rId18" Type="http://schemas.openxmlformats.org/officeDocument/2006/relationships/slide" Target="slides/slide13.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bf2da960da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bf2da960da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bf2da960da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 name="Google Shape;63;gbf2da960da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bf2da960da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bf2da960da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bf2da960da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bf2da960da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bf2da960da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bf2da960da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 name="Shape 87"/>
        <p:cNvGrpSpPr/>
        <p:nvPr/>
      </p:nvGrpSpPr>
      <p:grpSpPr>
        <a:xfrm>
          <a:off x="0" y="0"/>
          <a:ext cx="0" cy="0"/>
          <a:chOff x="0" y="0"/>
          <a:chExt cx="0" cy="0"/>
        </a:xfrm>
      </p:grpSpPr>
      <p:sp>
        <p:nvSpPr>
          <p:cNvPr id="88" name="Google Shape;88;gc19bde57ae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 name="Google Shape;89;gc19bde57a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c19bde57ae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c19bde57ae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9" name="Shape 99"/>
        <p:cNvGrpSpPr/>
        <p:nvPr/>
      </p:nvGrpSpPr>
      <p:grpSpPr>
        <a:xfrm>
          <a:off x="0" y="0"/>
          <a:ext cx="0" cy="0"/>
          <a:chOff x="0" y="0"/>
          <a:chExt cx="0" cy="0"/>
        </a:xfrm>
      </p:grpSpPr>
      <p:sp>
        <p:nvSpPr>
          <p:cNvPr id="100" name="Google Shape;100;gc19bde57ae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1" name="Google Shape;101;gc19bde57ae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c19bde57ae_0_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c19bde57ae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 name="Shape 111"/>
        <p:cNvGrpSpPr/>
        <p:nvPr/>
      </p:nvGrpSpPr>
      <p:grpSpPr>
        <a:xfrm>
          <a:off x="0" y="0"/>
          <a:ext cx="0" cy="0"/>
          <a:chOff x="0" y="0"/>
          <a:chExt cx="0" cy="0"/>
        </a:xfrm>
      </p:grpSpPr>
      <p:sp>
        <p:nvSpPr>
          <p:cNvPr id="112" name="Google Shape;112;gc19bde57ae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3" name="Google Shape;113;gc19bde57ae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8" name="Shape 118"/>
        <p:cNvGrpSpPr/>
        <p:nvPr/>
      </p:nvGrpSpPr>
      <p:grpSpPr>
        <a:xfrm>
          <a:off x="0" y="0"/>
          <a:ext cx="0" cy="0"/>
          <a:chOff x="0" y="0"/>
          <a:chExt cx="0" cy="0"/>
        </a:xfrm>
      </p:grpSpPr>
      <p:sp>
        <p:nvSpPr>
          <p:cNvPr id="119" name="Google Shape;119;gc19bde57ae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 name="Google Shape;120;gc19bde57ae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c19bde57ae_0_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c19bde57ae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c19bde57ae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c19bde57ae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c19bde57ae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c19bde57ae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25"/>
            <a:ext cx="4572000" cy="5143500"/>
          </a:xfrm>
          <a:prstGeom prst="rect">
            <a:avLst/>
          </a:prstGeom>
          <a:solidFill>
            <a:schemeClr val="dk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200"/>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Clr>
                <a:schemeClr val="dk1"/>
              </a:buClr>
              <a:buSzPts val="1800"/>
              <a:buChar char="●"/>
              <a:defRPr>
                <a:solidFill>
                  <a:schemeClr val="dk1"/>
                </a:solidFill>
              </a:defRPr>
            </a:lvl1pPr>
            <a:lvl2pPr indent="-317500" lvl="1" marL="914400">
              <a:spcBef>
                <a:spcPts val="0"/>
              </a:spcBef>
              <a:spcAft>
                <a:spcPts val="0"/>
              </a:spcAft>
              <a:buClr>
                <a:schemeClr val="dk1"/>
              </a:buClr>
              <a:buSzPts val="1400"/>
              <a:buChar char="○"/>
              <a:defRPr>
                <a:solidFill>
                  <a:schemeClr val="dk1"/>
                </a:solidFill>
              </a:defRPr>
            </a:lvl2pPr>
            <a:lvl3pPr indent="-317500" lvl="2" marL="1371600">
              <a:spcBef>
                <a:spcPts val="0"/>
              </a:spcBef>
              <a:spcAft>
                <a:spcPts val="0"/>
              </a:spcAft>
              <a:buClr>
                <a:schemeClr val="dk1"/>
              </a:buClr>
              <a:buSzPts val="1400"/>
              <a:buChar char="■"/>
              <a:defRPr>
                <a:solidFill>
                  <a:schemeClr val="dk1"/>
                </a:solidFill>
              </a:defRPr>
            </a:lvl3pPr>
            <a:lvl4pPr indent="-317500" lvl="3" marL="1828800">
              <a:spcBef>
                <a:spcPts val="0"/>
              </a:spcBef>
              <a:spcAft>
                <a:spcPts val="0"/>
              </a:spcAft>
              <a:buClr>
                <a:schemeClr val="dk1"/>
              </a:buClr>
              <a:buSzPts val="1400"/>
              <a:buChar char="●"/>
              <a:defRPr>
                <a:solidFill>
                  <a:schemeClr val="dk1"/>
                </a:solidFill>
              </a:defRPr>
            </a:lvl4pPr>
            <a:lvl5pPr indent="-317500" lvl="4" marL="2286000">
              <a:spcBef>
                <a:spcPts val="0"/>
              </a:spcBef>
              <a:spcAft>
                <a:spcPts val="0"/>
              </a:spcAft>
              <a:buClr>
                <a:schemeClr val="dk1"/>
              </a:buClr>
              <a:buSzPts val="1400"/>
              <a:buChar char="○"/>
              <a:defRPr>
                <a:solidFill>
                  <a:schemeClr val="dk1"/>
                </a:solidFill>
              </a:defRPr>
            </a:lvl5pPr>
            <a:lvl6pPr indent="-317500" lvl="5" marL="2743200">
              <a:spcBef>
                <a:spcPts val="0"/>
              </a:spcBef>
              <a:spcAft>
                <a:spcPts val="0"/>
              </a:spcAft>
              <a:buClr>
                <a:schemeClr val="dk1"/>
              </a:buClr>
              <a:buSzPts val="1400"/>
              <a:buChar char="■"/>
              <a:defRPr>
                <a:solidFill>
                  <a:schemeClr val="dk1"/>
                </a:solidFill>
              </a:defRPr>
            </a:lvl6pPr>
            <a:lvl7pPr indent="-317500" lvl="6" marL="3200400">
              <a:spcBef>
                <a:spcPts val="0"/>
              </a:spcBef>
              <a:spcAft>
                <a:spcPts val="0"/>
              </a:spcAft>
              <a:buClr>
                <a:schemeClr val="dk1"/>
              </a:buClr>
              <a:buSzPts val="1400"/>
              <a:buChar char="●"/>
              <a:defRPr>
                <a:solidFill>
                  <a:schemeClr val="dk1"/>
                </a:solidFill>
              </a:defRPr>
            </a:lvl7pPr>
            <a:lvl8pPr indent="-317500" lvl="7" marL="3657600">
              <a:spcBef>
                <a:spcPts val="0"/>
              </a:spcBef>
              <a:spcAft>
                <a:spcPts val="0"/>
              </a:spcAft>
              <a:buClr>
                <a:schemeClr val="dk1"/>
              </a:buClr>
              <a:buSzPts val="1400"/>
              <a:buChar char="○"/>
              <a:defRPr>
                <a:solidFill>
                  <a:schemeClr val="dk1"/>
                </a:solidFill>
              </a:defRPr>
            </a:lvl8pPr>
            <a:lvl9pPr indent="-317500" lvl="8" marL="4114800">
              <a:spcBef>
                <a:spcPts val="0"/>
              </a:spcBef>
              <a:spcAft>
                <a:spcPts val="0"/>
              </a:spcAft>
              <a:buClr>
                <a:schemeClr val="dk1"/>
              </a:buClr>
              <a:buSzPts val="1400"/>
              <a:buChar char="■"/>
              <a:defRPr>
                <a:solidFill>
                  <a:schemeClr val="dk1"/>
                </a:solidFill>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pl"/>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dark-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lt2"/>
              </a:buClr>
              <a:buSzPts val="1800"/>
              <a:buChar char="●"/>
              <a:defRPr sz="1800">
                <a:solidFill>
                  <a:schemeClr val="lt2"/>
                </a:solidFill>
              </a:defRPr>
            </a:lvl1pPr>
            <a:lvl2pPr indent="-317500" lvl="1" marL="914400">
              <a:lnSpc>
                <a:spcPct val="115000"/>
              </a:lnSpc>
              <a:spcBef>
                <a:spcPts val="0"/>
              </a:spcBef>
              <a:spcAft>
                <a:spcPts val="0"/>
              </a:spcAft>
              <a:buClr>
                <a:schemeClr val="lt2"/>
              </a:buClr>
              <a:buSzPts val="1400"/>
              <a:buChar char="○"/>
              <a:defRPr>
                <a:solidFill>
                  <a:schemeClr val="lt2"/>
                </a:solidFill>
              </a:defRPr>
            </a:lvl2pPr>
            <a:lvl3pPr indent="-317500" lvl="2" marL="1371600">
              <a:lnSpc>
                <a:spcPct val="115000"/>
              </a:lnSpc>
              <a:spcBef>
                <a:spcPts val="0"/>
              </a:spcBef>
              <a:spcAft>
                <a:spcPts val="0"/>
              </a:spcAft>
              <a:buClr>
                <a:schemeClr val="lt2"/>
              </a:buClr>
              <a:buSzPts val="1400"/>
              <a:buChar char="■"/>
              <a:defRPr>
                <a:solidFill>
                  <a:schemeClr val="lt2"/>
                </a:solidFill>
              </a:defRPr>
            </a:lvl3pPr>
            <a:lvl4pPr indent="-317500" lvl="3" marL="1828800">
              <a:lnSpc>
                <a:spcPct val="115000"/>
              </a:lnSpc>
              <a:spcBef>
                <a:spcPts val="0"/>
              </a:spcBef>
              <a:spcAft>
                <a:spcPts val="0"/>
              </a:spcAft>
              <a:buClr>
                <a:schemeClr val="lt2"/>
              </a:buClr>
              <a:buSzPts val="1400"/>
              <a:buChar char="●"/>
              <a:defRPr>
                <a:solidFill>
                  <a:schemeClr val="lt2"/>
                </a:solidFill>
              </a:defRPr>
            </a:lvl4pPr>
            <a:lvl5pPr indent="-317500" lvl="4" marL="2286000">
              <a:lnSpc>
                <a:spcPct val="115000"/>
              </a:lnSpc>
              <a:spcBef>
                <a:spcPts val="0"/>
              </a:spcBef>
              <a:spcAft>
                <a:spcPts val="0"/>
              </a:spcAft>
              <a:buClr>
                <a:schemeClr val="lt2"/>
              </a:buClr>
              <a:buSzPts val="1400"/>
              <a:buChar char="○"/>
              <a:defRPr>
                <a:solidFill>
                  <a:schemeClr val="lt2"/>
                </a:solidFill>
              </a:defRPr>
            </a:lvl5pPr>
            <a:lvl6pPr indent="-317500" lvl="5" marL="2743200">
              <a:lnSpc>
                <a:spcPct val="115000"/>
              </a:lnSpc>
              <a:spcBef>
                <a:spcPts val="0"/>
              </a:spcBef>
              <a:spcAft>
                <a:spcPts val="0"/>
              </a:spcAft>
              <a:buClr>
                <a:schemeClr val="lt2"/>
              </a:buClr>
              <a:buSzPts val="1400"/>
              <a:buChar char="■"/>
              <a:defRPr>
                <a:solidFill>
                  <a:schemeClr val="lt2"/>
                </a:solidFill>
              </a:defRPr>
            </a:lvl6pPr>
            <a:lvl7pPr indent="-317500" lvl="6" marL="3200400">
              <a:lnSpc>
                <a:spcPct val="115000"/>
              </a:lnSpc>
              <a:spcBef>
                <a:spcPts val="0"/>
              </a:spcBef>
              <a:spcAft>
                <a:spcPts val="0"/>
              </a:spcAft>
              <a:buClr>
                <a:schemeClr val="lt2"/>
              </a:buClr>
              <a:buSzPts val="1400"/>
              <a:buChar char="●"/>
              <a:defRPr>
                <a:solidFill>
                  <a:schemeClr val="lt2"/>
                </a:solidFill>
              </a:defRPr>
            </a:lvl7pPr>
            <a:lvl8pPr indent="-317500" lvl="7" marL="3657600">
              <a:lnSpc>
                <a:spcPct val="115000"/>
              </a:lnSpc>
              <a:spcBef>
                <a:spcPts val="0"/>
              </a:spcBef>
              <a:spcAft>
                <a:spcPts val="0"/>
              </a:spcAft>
              <a:buClr>
                <a:schemeClr val="lt2"/>
              </a:buClr>
              <a:buSzPts val="1400"/>
              <a:buChar char="○"/>
              <a:defRPr>
                <a:solidFill>
                  <a:schemeClr val="lt2"/>
                </a:solidFill>
              </a:defRPr>
            </a:lvl8pPr>
            <a:lvl9pPr indent="-317500" lvl="8" marL="4114800">
              <a:lnSpc>
                <a:spcPct val="115000"/>
              </a:lnSpc>
              <a:spcBef>
                <a:spcPts val="0"/>
              </a:spcBef>
              <a:spcAft>
                <a:spcPts val="0"/>
              </a:spcAft>
              <a:buClr>
                <a:schemeClr val="lt2"/>
              </a:buClr>
              <a:buSzPts val="1400"/>
              <a:buChar char="■"/>
              <a:defRPr>
                <a:solidFill>
                  <a:schemeClr val="lt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2"/>
                </a:solidFill>
              </a:defRPr>
            </a:lvl1pPr>
            <a:lvl2pPr lvl="1" algn="r">
              <a:buNone/>
              <a:defRPr sz="1000">
                <a:solidFill>
                  <a:schemeClr val="lt2"/>
                </a:solidFill>
              </a:defRPr>
            </a:lvl2pPr>
            <a:lvl3pPr lvl="2" algn="r">
              <a:buNone/>
              <a:defRPr sz="1000">
                <a:solidFill>
                  <a:schemeClr val="lt2"/>
                </a:solidFill>
              </a:defRPr>
            </a:lvl3pPr>
            <a:lvl4pPr lvl="3" algn="r">
              <a:buNone/>
              <a:defRPr sz="1000">
                <a:solidFill>
                  <a:schemeClr val="lt2"/>
                </a:solidFill>
              </a:defRPr>
            </a:lvl4pPr>
            <a:lvl5pPr lvl="4" algn="r">
              <a:buNone/>
              <a:defRPr sz="1000">
                <a:solidFill>
                  <a:schemeClr val="lt2"/>
                </a:solidFill>
              </a:defRPr>
            </a:lvl5pPr>
            <a:lvl6pPr lvl="5" algn="r">
              <a:buNone/>
              <a:defRPr sz="1000">
                <a:solidFill>
                  <a:schemeClr val="lt2"/>
                </a:solidFill>
              </a:defRPr>
            </a:lvl6pPr>
            <a:lvl7pPr lvl="6" algn="r">
              <a:buNone/>
              <a:defRPr sz="1000">
                <a:solidFill>
                  <a:schemeClr val="lt2"/>
                </a:solidFill>
              </a:defRPr>
            </a:lvl7pPr>
            <a:lvl8pPr lvl="7" algn="r">
              <a:buNone/>
              <a:defRPr sz="1000">
                <a:solidFill>
                  <a:schemeClr val="lt2"/>
                </a:solidFill>
              </a:defRPr>
            </a:lvl8pPr>
            <a:lvl9pPr lvl="8" algn="r">
              <a:buNone/>
              <a:defRPr sz="1000">
                <a:solidFill>
                  <a:schemeClr val="lt2"/>
                </a:solidFill>
              </a:defRPr>
            </a:lvl9pPr>
          </a:lstStyle>
          <a:p>
            <a:pPr indent="0" lvl="0" marL="0" rtl="0" algn="r">
              <a:spcBef>
                <a:spcPts val="0"/>
              </a:spcBef>
              <a:spcAft>
                <a:spcPts val="0"/>
              </a:spcAft>
              <a:buNone/>
            </a:pPr>
            <a:fld id="{00000000-1234-1234-1234-123412341234}" type="slidenum">
              <a:rPr lang="pl"/>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hyperlink" Target="https://pl.wikipedia.org/wiki/J%C4%99zyk_angielski" TargetMode="External"/><Relationship Id="rId4" Type="http://schemas.openxmlformats.org/officeDocument/2006/relationships/hyperlink" Target="https://pl.wikipedia.org/wiki/Sie%C4%87_komputerowa" TargetMode="External"/><Relationship Id="rId5" Type="http://schemas.openxmlformats.org/officeDocument/2006/relationships/hyperlink" Target="https://pl.wikipedia.org/wiki/Topologia_gwiazdy" TargetMode="External"/><Relationship Id="rId6"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hyperlink" Target="https://pl.wikipedia.org/wiki/Model_OSI" TargetMode="External"/><Relationship Id="rId4" Type="http://schemas.openxmlformats.org/officeDocument/2006/relationships/hyperlink" Target="https://pl.wikipedia.org/wiki/Domena_kolizyjna" TargetMode="External"/><Relationship Id="rId11" Type="http://schemas.openxmlformats.org/officeDocument/2006/relationships/hyperlink" Target="https://pl.wikipedia.org/wiki/Drukarka_sieciowa" TargetMode="External"/><Relationship Id="rId10" Type="http://schemas.openxmlformats.org/officeDocument/2006/relationships/hyperlink" Target="https://pl.wikipedia.org/wiki/Serwer" TargetMode="External"/><Relationship Id="rId9" Type="http://schemas.openxmlformats.org/officeDocument/2006/relationships/hyperlink" Target="https://pl.wikipedia.org/wiki/Stacja_robocza" TargetMode="External"/><Relationship Id="rId5" Type="http://schemas.openxmlformats.org/officeDocument/2006/relationships/hyperlink" Target="https://pl.wikipedia.org/wiki/Wzmacniak" TargetMode="External"/><Relationship Id="rId6" Type="http://schemas.openxmlformats.org/officeDocument/2006/relationships/hyperlink" Target="https://pl.wikipedia.org/wiki/Ethernet" TargetMode="External"/><Relationship Id="rId7" Type="http://schemas.openxmlformats.org/officeDocument/2006/relationships/hyperlink" Target="https://pl.wikipedia.org/wiki/CSMA/CD" TargetMode="External"/><Relationship Id="rId8" Type="http://schemas.openxmlformats.org/officeDocument/2006/relationships/hyperlink" Target="https://pl.wikipedia.org/wiki/Router"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hyperlink" Target="https://pl.wikipedia.org/wiki/Sie%C4%87_komputerowa" TargetMode="External"/><Relationship Id="rId4" Type="http://schemas.openxmlformats.org/officeDocument/2006/relationships/hyperlink" Target="https://pl.wikipedia.org/wiki/Model_OSI" TargetMode="External"/><Relationship Id="rId5" Type="http://schemas.openxmlformats.org/officeDocument/2006/relationships/hyperlink" Target="https://pl.wikipedia.org/wiki/Warstwa_%C5%82%C4%85cza_danych" TargetMode="External"/><Relationship Id="rId6" Type="http://schemas.openxmlformats.org/officeDocument/2006/relationships/hyperlink" Target="https://pl.wikipedia.org/wiki/Pakiet_telekomunikacyjny" TargetMode="External"/><Relationship Id="rId7" Type="http://schemas.openxmlformats.org/officeDocument/2006/relationships/image" Target="../media/image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pl.wikipedia.org/wiki/Domena_kolizyjna" TargetMode="External"/><Relationship Id="rId4" Type="http://schemas.openxmlformats.org/officeDocument/2006/relationships/hyperlink" Target="https://pl.wikipedia.org/wiki/Host" TargetMode="Externa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hyperlink" Target="https://pl.wikipedia.org/wiki/Model_OSI" TargetMode="External"/><Relationship Id="rId4" Type="http://schemas.openxmlformats.org/officeDocument/2006/relationships/hyperlink" Target="https://pl.wikipedia.org/wiki/Model_TCP/IP" TargetMode="External"/><Relationship Id="rId5" Type="http://schemas.openxmlformats.org/officeDocument/2006/relationships/hyperlink" Target="https://pl.wikipedia.org/wiki/Trasowanie_(telekomunikacja)"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fontScale="90000"/>
          </a:bodyPr>
          <a:lstStyle/>
          <a:p>
            <a:pPr indent="0" lvl="0" marL="0" rtl="0" algn="ctr">
              <a:spcBef>
                <a:spcPts val="0"/>
              </a:spcBef>
              <a:spcAft>
                <a:spcPts val="0"/>
              </a:spcAft>
              <a:buNone/>
            </a:pPr>
            <a:r>
              <a:rPr lang="pl"/>
              <a:t>	BUDOWA,ZASADA DZIAŁANIA, WADY I ZALETY SWITCHA, HUBA I ROUTERA</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pl"/>
              <a:t>Ksawery Zelek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pl"/>
              <a:t>Hub</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Co to jest Hub?</a:t>
            </a:r>
            <a:endParaRPr/>
          </a:p>
        </p:txBody>
      </p:sp>
      <p:sp>
        <p:nvSpPr>
          <p:cNvPr id="66" name="Google Shape;66;p1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pl" sz="1400">
                <a:solidFill>
                  <a:srgbClr val="FFFFFF"/>
                </a:solidFill>
              </a:rPr>
              <a:t>Koncentrator sieciowy (także z </a:t>
            </a:r>
            <a:r>
              <a:rPr lang="pl" sz="1400">
                <a:solidFill>
                  <a:srgbClr val="FFFFFF"/>
                </a:solidFill>
                <a:uFill>
                  <a:noFill/>
                </a:uFill>
                <a:hlinkClick r:id="rId3">
                  <a:extLst>
                    <a:ext uri="{A12FA001-AC4F-418D-AE19-62706E023703}">
                      <ahyp:hlinkClr val="tx"/>
                    </a:ext>
                  </a:extLst>
                </a:hlinkClick>
              </a:rPr>
              <a:t>ang.</a:t>
            </a:r>
            <a:r>
              <a:rPr lang="pl" sz="1400">
                <a:solidFill>
                  <a:srgbClr val="FFFFFF"/>
                </a:solidFill>
              </a:rPr>
              <a:t> </a:t>
            </a:r>
            <a:r>
              <a:rPr i="1" lang="pl" sz="1400">
                <a:solidFill>
                  <a:srgbClr val="FFFFFF"/>
                </a:solidFill>
              </a:rPr>
              <a:t>hub</a:t>
            </a:r>
            <a:r>
              <a:rPr lang="pl" sz="1400">
                <a:solidFill>
                  <a:srgbClr val="FFFFFF"/>
                </a:solidFill>
              </a:rPr>
              <a:t>) – urządzenie pozwalające na przyłączenie wielu urządzeń sieciowych do </a:t>
            </a:r>
            <a:r>
              <a:rPr lang="pl" sz="1400">
                <a:solidFill>
                  <a:srgbClr val="FFFFFF"/>
                </a:solidFill>
                <a:uFill>
                  <a:noFill/>
                </a:uFill>
                <a:hlinkClick r:id="rId4">
                  <a:extLst>
                    <a:ext uri="{A12FA001-AC4F-418D-AE19-62706E023703}">
                      <ahyp:hlinkClr val="tx"/>
                    </a:ext>
                  </a:extLst>
                </a:hlinkClick>
              </a:rPr>
              <a:t>sieci komputerowej</a:t>
            </a:r>
            <a:r>
              <a:rPr lang="pl" sz="1400">
                <a:solidFill>
                  <a:srgbClr val="FFFFFF"/>
                </a:solidFill>
              </a:rPr>
              <a:t> o </a:t>
            </a:r>
            <a:r>
              <a:rPr lang="pl" sz="1400">
                <a:solidFill>
                  <a:srgbClr val="FFFFFF"/>
                </a:solidFill>
                <a:uFill>
                  <a:noFill/>
                </a:uFill>
                <a:hlinkClick r:id="rId5">
                  <a:extLst>
                    <a:ext uri="{A12FA001-AC4F-418D-AE19-62706E023703}">
                      <ahyp:hlinkClr val="tx"/>
                    </a:ext>
                  </a:extLst>
                </a:hlinkClick>
              </a:rPr>
              <a:t>topologii gwiazdy</a:t>
            </a:r>
            <a:r>
              <a:rPr lang="pl" sz="1400">
                <a:solidFill>
                  <a:srgbClr val="FFFFFF"/>
                </a:solidFill>
              </a:rPr>
              <a:t>. Najczęściej spotykane w wersji 4-, 8-, 16- lub 24-portowej.</a:t>
            </a:r>
            <a:endParaRPr sz="1400">
              <a:solidFill>
                <a:srgbClr val="FFFFFF"/>
              </a:solidFill>
            </a:endParaRPr>
          </a:p>
        </p:txBody>
      </p:sp>
      <p:pic>
        <p:nvPicPr>
          <p:cNvPr id="67" name="Google Shape;67;p15"/>
          <p:cNvPicPr preferRelativeResize="0"/>
          <p:nvPr/>
        </p:nvPicPr>
        <p:blipFill>
          <a:blip r:embed="rId6">
            <a:alphaModFix/>
          </a:blip>
          <a:stretch>
            <a:fillRect/>
          </a:stretch>
        </p:blipFill>
        <p:spPr>
          <a:xfrm>
            <a:off x="2569688" y="2198125"/>
            <a:ext cx="4004625" cy="23707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Zasada działania Hub-a</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pl" sz="1400">
                <a:solidFill>
                  <a:srgbClr val="FFFFFF"/>
                </a:solidFill>
              </a:rPr>
              <a:t>Koncentrator pracuje w warstwie pierwszej </a:t>
            </a:r>
            <a:r>
              <a:rPr lang="pl" sz="1400">
                <a:solidFill>
                  <a:srgbClr val="FFFFFF"/>
                </a:solidFill>
                <a:uFill>
                  <a:noFill/>
                </a:uFill>
                <a:hlinkClick r:id="rId3">
                  <a:extLst>
                    <a:ext uri="{A12FA001-AC4F-418D-AE19-62706E023703}">
                      <ahyp:hlinkClr val="tx"/>
                    </a:ext>
                  </a:extLst>
                </a:hlinkClick>
              </a:rPr>
              <a:t>modelu ISO/OSI</a:t>
            </a:r>
            <a:r>
              <a:rPr lang="pl" sz="1400">
                <a:solidFill>
                  <a:srgbClr val="FFFFFF"/>
                </a:solidFill>
              </a:rPr>
              <a:t> (warstwie fizycznej), przesyłając sygnały elektryczne z jednego portu (gniazda) na wszystkie pozostałe. Taka metoda działania nie pozwala mu na analizowanie ramek pod kątem adresu MAC ani datagramów pod kątem adresu IP. Ponieważ koncentrator powiela każdy otrzymany sygnał elektryczny, tworzy tak zwaną </a:t>
            </a:r>
            <a:r>
              <a:rPr lang="pl" sz="1400">
                <a:solidFill>
                  <a:srgbClr val="FFFFFF"/>
                </a:solidFill>
                <a:uFill>
                  <a:noFill/>
                </a:uFill>
                <a:hlinkClick r:id="rId4">
                  <a:extLst>
                    <a:ext uri="{A12FA001-AC4F-418D-AE19-62706E023703}">
                      <ahyp:hlinkClr val="tx"/>
                    </a:ext>
                  </a:extLst>
                </a:hlinkClick>
              </a:rPr>
              <a:t>domenę kolizyjną</a:t>
            </a:r>
            <a:r>
              <a:rPr lang="pl" sz="1400">
                <a:solidFill>
                  <a:srgbClr val="FFFFFF"/>
                </a:solidFill>
              </a:rPr>
              <a:t> - z tego względu czasami koncentrator nazywany jest wieloportowym </a:t>
            </a:r>
            <a:r>
              <a:rPr lang="pl" sz="1400">
                <a:solidFill>
                  <a:srgbClr val="FFFFFF"/>
                </a:solidFill>
                <a:uFill>
                  <a:noFill/>
                </a:uFill>
                <a:hlinkClick r:id="rId5">
                  <a:extLst>
                    <a:ext uri="{A12FA001-AC4F-418D-AE19-62706E023703}">
                      <ahyp:hlinkClr val="tx"/>
                    </a:ext>
                  </a:extLst>
                </a:hlinkClick>
              </a:rPr>
              <a:t>wzmacniakiem</a:t>
            </a:r>
            <a:r>
              <a:rPr lang="pl" sz="1400">
                <a:solidFill>
                  <a:srgbClr val="FFFFFF"/>
                </a:solidFill>
              </a:rPr>
              <a:t>. W sieciach </a:t>
            </a:r>
            <a:r>
              <a:rPr lang="pl" sz="1400">
                <a:solidFill>
                  <a:srgbClr val="FFFFFF"/>
                </a:solidFill>
                <a:uFill>
                  <a:noFill/>
                </a:uFill>
                <a:hlinkClick r:id="rId6">
                  <a:extLst>
                    <a:ext uri="{A12FA001-AC4F-418D-AE19-62706E023703}">
                      <ahyp:hlinkClr val="tx"/>
                    </a:ext>
                  </a:extLst>
                </a:hlinkClick>
              </a:rPr>
              <a:t>Ethernet</a:t>
            </a:r>
            <a:r>
              <a:rPr lang="pl" sz="1400">
                <a:solidFill>
                  <a:srgbClr val="FFFFFF"/>
                </a:solidFill>
              </a:rPr>
              <a:t> najczęściej wykorzystywaną metodą detekcji zaistnienia kolizji jest </a:t>
            </a:r>
            <a:r>
              <a:rPr lang="pl" sz="1400">
                <a:solidFill>
                  <a:srgbClr val="FFFFFF"/>
                </a:solidFill>
                <a:uFill>
                  <a:noFill/>
                </a:uFill>
                <a:hlinkClick r:id="rId7">
                  <a:extLst>
                    <a:ext uri="{A12FA001-AC4F-418D-AE19-62706E023703}">
                      <ahyp:hlinkClr val="tx"/>
                    </a:ext>
                  </a:extLst>
                </a:hlinkClick>
              </a:rPr>
              <a:t>CSMA/CD</a:t>
            </a:r>
            <a:r>
              <a:rPr lang="pl" sz="1400">
                <a:solidFill>
                  <a:srgbClr val="FFFFFF"/>
                </a:solidFill>
              </a:rPr>
              <a:t>. Koncentrator zwykle podłączany jest do </a:t>
            </a:r>
            <a:r>
              <a:rPr lang="pl" sz="1400">
                <a:solidFill>
                  <a:srgbClr val="FFFFFF"/>
                </a:solidFill>
                <a:uFill>
                  <a:noFill/>
                </a:uFill>
                <a:hlinkClick r:id="rId8">
                  <a:extLst>
                    <a:ext uri="{A12FA001-AC4F-418D-AE19-62706E023703}">
                      <ahyp:hlinkClr val="tx"/>
                    </a:ext>
                  </a:extLst>
                </a:hlinkClick>
              </a:rPr>
              <a:t>routera</a:t>
            </a:r>
            <a:r>
              <a:rPr lang="pl" sz="1400">
                <a:solidFill>
                  <a:srgbClr val="FFFFFF"/>
                </a:solidFill>
              </a:rPr>
              <a:t> jako rozgałęziacz, do niego zaś dopiero podłączane są pozostałe urządzenia sieciowe: komputery pełniące rolę </a:t>
            </a:r>
            <a:r>
              <a:rPr lang="pl" sz="1400">
                <a:solidFill>
                  <a:srgbClr val="FFFFFF"/>
                </a:solidFill>
                <a:uFill>
                  <a:noFill/>
                </a:uFill>
                <a:hlinkClick r:id="rId9">
                  <a:extLst>
                    <a:ext uri="{A12FA001-AC4F-418D-AE19-62706E023703}">
                      <ahyp:hlinkClr val="tx"/>
                    </a:ext>
                  </a:extLst>
                </a:hlinkClick>
              </a:rPr>
              <a:t>stacji roboczych</a:t>
            </a:r>
            <a:r>
              <a:rPr lang="pl" sz="1400">
                <a:solidFill>
                  <a:srgbClr val="FFFFFF"/>
                </a:solidFill>
              </a:rPr>
              <a:t>, </a:t>
            </a:r>
            <a:r>
              <a:rPr lang="pl" sz="1400">
                <a:solidFill>
                  <a:srgbClr val="FFFFFF"/>
                </a:solidFill>
                <a:uFill>
                  <a:noFill/>
                </a:uFill>
                <a:hlinkClick r:id="rId10">
                  <a:extLst>
                    <a:ext uri="{A12FA001-AC4F-418D-AE19-62706E023703}">
                      <ahyp:hlinkClr val="tx"/>
                    </a:ext>
                  </a:extLst>
                </a:hlinkClick>
              </a:rPr>
              <a:t>serwerów</a:t>
            </a:r>
            <a:r>
              <a:rPr lang="pl" sz="1400">
                <a:solidFill>
                  <a:srgbClr val="FFFFFF"/>
                </a:solidFill>
              </a:rPr>
              <a:t>, </a:t>
            </a:r>
            <a:r>
              <a:rPr lang="pl" sz="1400">
                <a:solidFill>
                  <a:srgbClr val="FFFFFF"/>
                </a:solidFill>
                <a:uFill>
                  <a:noFill/>
                </a:uFill>
                <a:hlinkClick r:id="rId11">
                  <a:extLst>
                    <a:ext uri="{A12FA001-AC4F-418D-AE19-62706E023703}">
                      <ahyp:hlinkClr val="tx"/>
                    </a:ext>
                  </a:extLst>
                </a:hlinkClick>
              </a:rPr>
              <a:t>drukarki sieciowe</a:t>
            </a:r>
            <a:r>
              <a:rPr lang="pl" sz="1400">
                <a:solidFill>
                  <a:srgbClr val="FFFFFF"/>
                </a:solidFill>
              </a:rPr>
              <a:t> i inne.</a:t>
            </a:r>
            <a:endParaRPr sz="1400">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Wady i zalety Hub-a</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pl">
                <a:solidFill>
                  <a:srgbClr val="FFFFFF"/>
                </a:solidFill>
              </a:rPr>
              <a:t>Zaletą tego urządzenia jest brak opóżnień. </a:t>
            </a:r>
            <a:endParaRPr>
              <a:solidFill>
                <a:srgbClr val="FFFFFF"/>
              </a:solidFill>
            </a:endParaRPr>
          </a:p>
          <a:p>
            <a:pPr indent="0" lvl="0" marL="0" rtl="0" algn="l">
              <a:spcBef>
                <a:spcPts val="1200"/>
              </a:spcBef>
              <a:spcAft>
                <a:spcPts val="1200"/>
              </a:spcAft>
              <a:buNone/>
            </a:pPr>
            <a:r>
              <a:rPr lang="pl">
                <a:solidFill>
                  <a:srgbClr val="FFFFFF"/>
                </a:solidFill>
              </a:rPr>
              <a:t>Wadą natomiast, że gdy wiele komputerów zacznie jednocześnie wysyłać sygnały do koncentratora w tym samym czasie, to zaczyna dochodzić do tzw. kolizji. Pakiety muszą być wysyłane ponownie.</a:t>
            </a:r>
            <a:endParaRPr>
              <a:solidFill>
                <a:srgbClr val="FFFFFF"/>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Budowa Hub-a</a:t>
            </a:r>
            <a:endParaRPr/>
          </a:p>
        </p:txBody>
      </p:sp>
      <p:sp>
        <p:nvSpPr>
          <p:cNvPr id="85" name="Google Shape;85;p1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86" name="Google Shape;86;p18"/>
          <p:cNvPicPr preferRelativeResize="0"/>
          <p:nvPr/>
        </p:nvPicPr>
        <p:blipFill>
          <a:blip r:embed="rId3">
            <a:alphaModFix/>
          </a:blip>
          <a:stretch>
            <a:fillRect/>
          </a:stretch>
        </p:blipFill>
        <p:spPr>
          <a:xfrm>
            <a:off x="1913987" y="1221562"/>
            <a:ext cx="5316025" cy="32782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 name="Shape 90"/>
        <p:cNvGrpSpPr/>
        <p:nvPr/>
      </p:nvGrpSpPr>
      <p:grpSpPr>
        <a:xfrm>
          <a:off x="0" y="0"/>
          <a:ext cx="0" cy="0"/>
          <a:chOff x="0" y="0"/>
          <a:chExt cx="0" cy="0"/>
        </a:xfrm>
      </p:grpSpPr>
      <p:sp>
        <p:nvSpPr>
          <p:cNvPr id="91" name="Google Shape;91;p19"/>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pl"/>
              <a:t>Switch</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2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Co to jest Switch</a:t>
            </a:r>
            <a:endParaRPr/>
          </a:p>
        </p:txBody>
      </p:sp>
      <p:sp>
        <p:nvSpPr>
          <p:cNvPr id="97" name="Google Shape;97;p2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pl" sz="1400">
                <a:solidFill>
                  <a:srgbClr val="FFFFFF"/>
                </a:solidFill>
              </a:rPr>
              <a:t>urządzenie łączące segmenty </a:t>
            </a:r>
            <a:r>
              <a:rPr lang="pl" sz="1400">
                <a:solidFill>
                  <a:srgbClr val="FFFFFF"/>
                </a:solidFill>
                <a:uFill>
                  <a:noFill/>
                </a:uFill>
                <a:hlinkClick r:id="rId3">
                  <a:extLst>
                    <a:ext uri="{A12FA001-AC4F-418D-AE19-62706E023703}">
                      <ahyp:hlinkClr val="tx"/>
                    </a:ext>
                  </a:extLst>
                </a:hlinkClick>
              </a:rPr>
              <a:t>sieci komputerowej</a:t>
            </a:r>
            <a:r>
              <a:rPr lang="pl" sz="1400">
                <a:solidFill>
                  <a:srgbClr val="FFFFFF"/>
                </a:solidFill>
              </a:rPr>
              <a:t> pracujące głównie w drugiej warstwie </a:t>
            </a:r>
            <a:r>
              <a:rPr lang="pl" sz="1400">
                <a:solidFill>
                  <a:srgbClr val="FFFFFF"/>
                </a:solidFill>
                <a:uFill>
                  <a:noFill/>
                </a:uFill>
                <a:hlinkClick r:id="rId4">
                  <a:extLst>
                    <a:ext uri="{A12FA001-AC4F-418D-AE19-62706E023703}">
                      <ahyp:hlinkClr val="tx"/>
                    </a:ext>
                  </a:extLst>
                </a:hlinkClick>
              </a:rPr>
              <a:t>modelu ISO/OSI</a:t>
            </a:r>
            <a:r>
              <a:rPr lang="pl" sz="1400">
                <a:solidFill>
                  <a:srgbClr val="FFFFFF"/>
                </a:solidFill>
              </a:rPr>
              <a:t> (</a:t>
            </a:r>
            <a:r>
              <a:rPr lang="pl" sz="1400">
                <a:solidFill>
                  <a:srgbClr val="FFFFFF"/>
                </a:solidFill>
                <a:uFill>
                  <a:noFill/>
                </a:uFill>
                <a:hlinkClick r:id="rId5">
                  <a:extLst>
                    <a:ext uri="{A12FA001-AC4F-418D-AE19-62706E023703}">
                      <ahyp:hlinkClr val="tx"/>
                    </a:ext>
                  </a:extLst>
                </a:hlinkClick>
              </a:rPr>
              <a:t>łącza danych</a:t>
            </a:r>
            <a:r>
              <a:rPr lang="pl" sz="1400">
                <a:solidFill>
                  <a:srgbClr val="FFFFFF"/>
                </a:solidFill>
              </a:rPr>
              <a:t>). Jego zadaniem jest przekazywanie </a:t>
            </a:r>
            <a:r>
              <a:rPr lang="pl" sz="1400">
                <a:solidFill>
                  <a:srgbClr val="FFFFFF"/>
                </a:solidFill>
                <a:uFill>
                  <a:noFill/>
                </a:uFill>
                <a:hlinkClick r:id="rId6">
                  <a:extLst>
                    <a:ext uri="{A12FA001-AC4F-418D-AE19-62706E023703}">
                      <ahyp:hlinkClr val="tx"/>
                    </a:ext>
                  </a:extLst>
                </a:hlinkClick>
              </a:rPr>
              <a:t>ramki</a:t>
            </a:r>
            <a:r>
              <a:rPr lang="pl" sz="1400">
                <a:solidFill>
                  <a:srgbClr val="FFFFFF"/>
                </a:solidFill>
              </a:rPr>
              <a:t> między segmentami sieci z doborem portu przełącznika, na który jest przekazywana.</a:t>
            </a:r>
            <a:endParaRPr sz="1400">
              <a:solidFill>
                <a:srgbClr val="FFFFFF"/>
              </a:solidFill>
            </a:endParaRPr>
          </a:p>
        </p:txBody>
      </p:sp>
      <p:pic>
        <p:nvPicPr>
          <p:cNvPr id="98" name="Google Shape;98;p20"/>
          <p:cNvPicPr preferRelativeResize="0"/>
          <p:nvPr/>
        </p:nvPicPr>
        <p:blipFill>
          <a:blip r:embed="rId7">
            <a:alphaModFix/>
          </a:blip>
          <a:stretch>
            <a:fillRect/>
          </a:stretch>
        </p:blipFill>
        <p:spPr>
          <a:xfrm>
            <a:off x="2133600" y="2501938"/>
            <a:ext cx="4876800" cy="2066925"/>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2" name="Shape 102"/>
        <p:cNvGrpSpPr/>
        <p:nvPr/>
      </p:nvGrpSpPr>
      <p:grpSpPr>
        <a:xfrm>
          <a:off x="0" y="0"/>
          <a:ext cx="0" cy="0"/>
          <a:chOff x="0" y="0"/>
          <a:chExt cx="0" cy="0"/>
        </a:xfrm>
      </p:grpSpPr>
      <p:sp>
        <p:nvSpPr>
          <p:cNvPr id="103" name="Google Shape;103;p2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Działanie switcha</a:t>
            </a:r>
            <a:endParaRPr/>
          </a:p>
        </p:txBody>
      </p:sp>
      <p:sp>
        <p:nvSpPr>
          <p:cNvPr id="104" name="Google Shape;104;p21"/>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pl" sz="1400">
                <a:solidFill>
                  <a:srgbClr val="FFFFFF"/>
                </a:solidFill>
              </a:rPr>
              <a:t>Przełącznik w sieci Ethernet analizuje adresy MAC nadawcy i odbiorcy przychodzącej ramki. Adres MAC nadawcy jest wykorzystywany do prowadzenia tablicy skojarzeń, zawierającej adresy MAC i odpowiadające im porty przełącznika, tablica ta może zawierać 4096, 8192, a nawet 16384 wpisów. By zapewnić dostosowywanie się przełącznika do zmian w sieci ważność wpisu wygasa jeżeli przez określony czas nie napływają ramki z danym MAC nadawcy.</a:t>
            </a:r>
            <a:endParaRPr sz="1400">
              <a:solidFill>
                <a:srgbClr val="FFFFFF"/>
              </a:solidFill>
            </a:endParaRPr>
          </a:p>
          <a:p>
            <a:pPr indent="0" lvl="0" marL="0" rtl="0" algn="l">
              <a:spcBef>
                <a:spcPts val="1200"/>
              </a:spcBef>
              <a:spcAft>
                <a:spcPts val="0"/>
              </a:spcAft>
              <a:buNone/>
            </a:pPr>
            <a:r>
              <a:rPr lang="pl" sz="1400">
                <a:solidFill>
                  <a:srgbClr val="FFFFFF"/>
                </a:solidFill>
              </a:rPr>
              <a:t>Po otrzymaniu ramki przełącznik szuka adresu MAC odbiorcy w tablicy skojarzeń, jeżeli adres nie występuje w niej, to ramka wysyłana jest na wszystkie porty z wyjątkiem źródłowego, gdy jest znany, to tylko na port określony w tablicy skojarzeń.</a:t>
            </a:r>
            <a:endParaRPr sz="1400">
              <a:solidFill>
                <a:srgbClr val="FFFFFF"/>
              </a:solidFill>
            </a:endParaRPr>
          </a:p>
          <a:p>
            <a:pPr indent="0" lvl="0" marL="0" rtl="0" algn="l">
              <a:spcBef>
                <a:spcPts val="1200"/>
              </a:spcBef>
              <a:spcAft>
                <a:spcPts val="0"/>
              </a:spcAft>
              <a:buNone/>
            </a:pPr>
            <a:r>
              <a:rPr lang="pl" sz="1400">
                <a:solidFill>
                  <a:srgbClr val="FFFFFF"/>
                </a:solidFill>
              </a:rPr>
              <a:t>Przez przesyłanie ramki tylko na jeden port przełączniki ograniczają </a:t>
            </a:r>
            <a:r>
              <a:rPr lang="pl" sz="1400">
                <a:solidFill>
                  <a:srgbClr val="FFFFFF"/>
                </a:solidFill>
                <a:uFill>
                  <a:noFill/>
                </a:uFill>
                <a:hlinkClick r:id="rId3">
                  <a:extLst>
                    <a:ext uri="{A12FA001-AC4F-418D-AE19-62706E023703}">
                      <ahyp:hlinkClr val="tx"/>
                    </a:ext>
                  </a:extLst>
                </a:hlinkClick>
              </a:rPr>
              <a:t>domenę kolizyjną</a:t>
            </a:r>
            <a:r>
              <a:rPr lang="pl" sz="1400">
                <a:solidFill>
                  <a:srgbClr val="FFFFFF"/>
                </a:solidFill>
              </a:rPr>
              <a:t> do pojedynczego portu, dzięki czemu są w stanie zapewnić każdemu </a:t>
            </a:r>
            <a:r>
              <a:rPr lang="pl" sz="1400">
                <a:solidFill>
                  <a:srgbClr val="FFFFFF"/>
                </a:solidFill>
                <a:uFill>
                  <a:noFill/>
                </a:uFill>
                <a:hlinkClick r:id="rId4">
                  <a:extLst>
                    <a:ext uri="{A12FA001-AC4F-418D-AE19-62706E023703}">
                      <ahyp:hlinkClr val="tx"/>
                    </a:ext>
                  </a:extLst>
                </a:hlinkClick>
              </a:rPr>
              <a:t>hostowi</a:t>
            </a:r>
            <a:r>
              <a:rPr lang="pl" sz="1400">
                <a:solidFill>
                  <a:srgbClr val="FFFFFF"/>
                </a:solidFill>
              </a:rPr>
              <a:t> podłączonemu do portu osobny kanał transmisyjno-nadawczy, nie zaś współdzielony, jak to jest w przypadku koncentratora.</a:t>
            </a:r>
            <a:endParaRPr sz="1400">
              <a:solidFill>
                <a:srgbClr val="FFFFFF"/>
              </a:solidFill>
            </a:endParaRPr>
          </a:p>
          <a:p>
            <a:pPr indent="0" lvl="0" marL="0" rtl="0" algn="l">
              <a:spcBef>
                <a:spcPts val="1200"/>
              </a:spcBef>
              <a:spcAft>
                <a:spcPts val="1200"/>
              </a:spcAft>
              <a:buNone/>
            </a:pPr>
            <a:r>
              <a:t/>
            </a:r>
            <a:endParaRPr sz="1050">
              <a:solidFill>
                <a:srgbClr val="202122"/>
              </a:solidFill>
              <a:highlight>
                <a:srgbClr val="FFFFFF"/>
              </a:highlight>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Zalety i wady switcha</a:t>
            </a:r>
            <a:endParaRPr/>
          </a:p>
        </p:txBody>
      </p:sp>
      <p:sp>
        <p:nvSpPr>
          <p:cNvPr id="110" name="Google Shape;110;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pl"/>
              <a:t>Zalety to brak domeny kolizyjnej, a wady to: generuje większe opóźnienia niż hub, większa cena i większy pobór prądu.</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Budowa Switcha</a:t>
            </a:r>
            <a:endParaRPr/>
          </a:p>
        </p:txBody>
      </p:sp>
      <p:sp>
        <p:nvSpPr>
          <p:cNvPr id="116" name="Google Shape;116;p2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17" name="Google Shape;117;p23"/>
          <p:cNvPicPr preferRelativeResize="0"/>
          <p:nvPr/>
        </p:nvPicPr>
        <p:blipFill>
          <a:blip r:embed="rId3">
            <a:alphaModFix/>
          </a:blip>
          <a:stretch>
            <a:fillRect/>
          </a:stretch>
        </p:blipFill>
        <p:spPr>
          <a:xfrm>
            <a:off x="1746973" y="1105125"/>
            <a:ext cx="5650050" cy="35111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 name="Shape 121"/>
        <p:cNvGrpSpPr/>
        <p:nvPr/>
      </p:nvGrpSpPr>
      <p:grpSpPr>
        <a:xfrm>
          <a:off x="0" y="0"/>
          <a:ext cx="0" cy="0"/>
          <a:chOff x="0" y="0"/>
          <a:chExt cx="0" cy="0"/>
        </a:xfrm>
      </p:grpSpPr>
      <p:sp>
        <p:nvSpPr>
          <p:cNvPr id="122" name="Google Shape;122;p24"/>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p>
            <a:pPr indent="0" lvl="0" marL="0" rtl="0" algn="ctr">
              <a:spcBef>
                <a:spcPts val="0"/>
              </a:spcBef>
              <a:spcAft>
                <a:spcPts val="0"/>
              </a:spcAft>
              <a:buNone/>
            </a:pPr>
            <a:r>
              <a:rPr lang="pl"/>
              <a:t>Router</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Co to router?</a:t>
            </a:r>
            <a:endParaRPr/>
          </a:p>
        </p:txBody>
      </p:sp>
      <p:sp>
        <p:nvSpPr>
          <p:cNvPr id="128" name="Google Shape;128;p25"/>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pl" sz="1400">
                <a:solidFill>
                  <a:srgbClr val="FFFFFF"/>
                </a:solidFill>
              </a:rPr>
              <a:t>urządzenie sieciowe pracujące w trzeciej warstwie </a:t>
            </a:r>
            <a:r>
              <a:rPr lang="pl" sz="1400">
                <a:solidFill>
                  <a:srgbClr val="FFFFFF"/>
                </a:solidFill>
                <a:uFill>
                  <a:noFill/>
                </a:uFill>
                <a:hlinkClick r:id="rId3">
                  <a:extLst>
                    <a:ext uri="{A12FA001-AC4F-418D-AE19-62706E023703}">
                      <ahyp:hlinkClr val="tx"/>
                    </a:ext>
                  </a:extLst>
                </a:hlinkClick>
              </a:rPr>
              <a:t>modelu OSI</a:t>
            </a:r>
            <a:r>
              <a:rPr lang="pl" sz="1400">
                <a:solidFill>
                  <a:srgbClr val="FFFFFF"/>
                </a:solidFill>
              </a:rPr>
              <a:t>. Służy do łączenia różnych sieci komputerowych (różnych w sensie informatycznym, czyli np. o różnych klasach, maskach itd.), pełni więc rolę węzła komunikacyjnego. Na podstawie informacji zawartych w pakietach </a:t>
            </a:r>
            <a:r>
              <a:rPr lang="pl" sz="1400">
                <a:solidFill>
                  <a:srgbClr val="FFFFFF"/>
                </a:solidFill>
                <a:uFill>
                  <a:noFill/>
                </a:uFill>
                <a:hlinkClick r:id="rId4">
                  <a:extLst>
                    <a:ext uri="{A12FA001-AC4F-418D-AE19-62706E023703}">
                      <ahyp:hlinkClr val="tx"/>
                    </a:ext>
                  </a:extLst>
                </a:hlinkClick>
              </a:rPr>
              <a:t>TCP/IP</a:t>
            </a:r>
            <a:r>
              <a:rPr lang="pl" sz="1400">
                <a:solidFill>
                  <a:srgbClr val="FFFFFF"/>
                </a:solidFill>
              </a:rPr>
              <a:t> jest w stanie przekazać pakiety z dołączonej do siebie sieci źródłowej do docelowej, rozróżniając ją spośród wielu dołączonych do siebie sieci. Proces kierowania ruchem nosi nazwę </a:t>
            </a:r>
            <a:r>
              <a:rPr lang="pl" sz="1400">
                <a:solidFill>
                  <a:srgbClr val="FFFFFF"/>
                </a:solidFill>
                <a:uFill>
                  <a:noFill/>
                </a:uFill>
                <a:hlinkClick r:id="rId5">
                  <a:extLst>
                    <a:ext uri="{A12FA001-AC4F-418D-AE19-62706E023703}">
                      <ahyp:hlinkClr val="tx"/>
                    </a:ext>
                  </a:extLst>
                </a:hlinkClick>
              </a:rPr>
              <a:t>trasowania</a:t>
            </a:r>
            <a:r>
              <a:rPr lang="pl" sz="1400">
                <a:solidFill>
                  <a:srgbClr val="FFFFFF"/>
                </a:solidFill>
              </a:rPr>
              <a:t> lub routingu.</a:t>
            </a:r>
            <a:endParaRPr sz="1400">
              <a:solidFill>
                <a:srgbClr val="FFFFFF"/>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pl"/>
              <a:t>Jak działa router?</a:t>
            </a:r>
            <a:endParaRPr/>
          </a:p>
        </p:txBody>
      </p:sp>
      <p:sp>
        <p:nvSpPr>
          <p:cNvPr id="134" name="Google Shape;134;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pl" sz="1400">
                <a:solidFill>
                  <a:srgbClr val="FFFFFF"/>
                </a:solidFill>
              </a:rPr>
              <a:t>Domowy router tworzy lokalną sieć, w obrębie której każde podłączone przez Ciebie urządzenie otrzymuje osobny adres IP, co umożliwia sprzętom niezakłócony, równoczesny dostęp do internetu i sprawia, że „widzą się” nawzajem i mogą się między sobą wymieniać danymi.</a:t>
            </a:r>
            <a:endParaRPr sz="1400">
              <a:solidFill>
                <a:srgbClr val="FFFF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t/>
            </a:r>
            <a:endParaRPr/>
          </a:p>
        </p:txBody>
      </p:sp>
      <p:sp>
        <p:nvSpPr>
          <p:cNvPr id="140" name="Google Shape;140;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pl"/>
              <a:t>Koniec</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Dark">
  <a:themeElements>
    <a:clrScheme name="Simple Dark">
      <a:dk1>
        <a:srgbClr val="FFFFFF"/>
      </a:dk1>
      <a:lt1>
        <a:srgbClr val="212121"/>
      </a:lt1>
      <a:dk2>
        <a:srgbClr val="303030"/>
      </a:dk2>
      <a:lt2>
        <a:srgbClr val="ADADAD"/>
      </a:lt2>
      <a:accent1>
        <a:srgbClr val="009688"/>
      </a:accent1>
      <a:accent2>
        <a:srgbClr val="EEEEEE"/>
      </a:accent2>
      <a:accent3>
        <a:srgbClr val="78909C"/>
      </a:accent3>
      <a:accent4>
        <a:srgbClr val="FFAB40"/>
      </a:accent4>
      <a:accent5>
        <a:srgbClr val="4DD0E1"/>
      </a:accent5>
      <a:accent6>
        <a:srgbClr val="EEFF41"/>
      </a:accent6>
      <a:hlink>
        <a:srgbClr val="4DD0E1"/>
      </a:hlink>
      <a:folHlink>
        <a:srgbClr val="4DD0E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